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先生用の説明ページ。児童に見せて説明したあと、削除しても構いません。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表紙。おもちゃの名前と自分の名前を入れます。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使った材料のカードだけ残します。文字入力なしで作れるページです。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作ったおもちゃの写真と名前。ことばカードから選んで空欄に入れます。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作り方を3つの写真で。ことばカードを空欄に入れます。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うまくいかなかったことのページ。ここが一番大事です。失敗の写真があれば貼ります。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考えたことを吹き出しに。「友だちが教えてくれた」を入れると、学び合いが見えます。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直す前と後の写真を並べます。変化が一目で伝わります。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試した回数と気持ちの変化。星はコピー＆ペーストで増やせます。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遊び方。動画を入れるとよく伝わります。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工夫と難しかったところ。1年生には「くふう＝がんばったところ」と言い換えると伝わります。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感想。ことばカードで選べるので、書くのが苦手な子も完成できます。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終わりのページ。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D4037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あきの おもちゃ はっぴょう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9800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つくりかた は かんたん 3つ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2606040" cy="2514600"/>
          </a:xfrm>
          <a:prstGeom prst="roundRect">
            <a:avLst>
              <a:gd name="adj" fmla="val 5818"/>
            </a:avLst>
          </a:prstGeom>
          <a:solidFill>
            <a:srgbClr val="FFF8E1"/>
          </a:solidFill>
          <a:ln w="31750">
            <a:solidFill>
              <a:srgbClr val="2196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1737360"/>
            <a:ext cx="420624" cy="420624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0200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1</a:t>
            </a:r>
            <a:endParaRPr lang="en-US" sz="1800" dirty="0"/>
          </a:p>
        </p:txBody>
      </p:sp>
      <p:pic>
        <p:nvPicPr>
          <p:cNvPr id="7" name="Image 0" descr="illust/kom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212848"/>
            <a:ext cx="868680" cy="868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31272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D4037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しゃしんを いれる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94360" y="349300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6E6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はいいろの ところを おす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1572768"/>
            <a:ext cx="2606040" cy="2514600"/>
          </a:xfrm>
          <a:prstGeom prst="roundRect">
            <a:avLst>
              <a:gd name="adj" fmla="val 5818"/>
            </a:avLst>
          </a:prstGeom>
          <a:solidFill>
            <a:srgbClr val="FFF8E1"/>
          </a:solidFill>
          <a:ln w="31750">
            <a:solidFill>
              <a:srgbClr val="4CAF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89120" y="1737360"/>
            <a:ext cx="420624" cy="420624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0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2</a:t>
            </a:r>
            <a:endParaRPr lang="en-US" sz="1800" dirty="0"/>
          </a:p>
        </p:txBody>
      </p:sp>
      <p:pic>
        <p:nvPicPr>
          <p:cNvPr id="13" name="Image 1" descr="illust/marac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2212848"/>
            <a:ext cx="868680" cy="8686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83280" y="31272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D4037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ことばカードを うごかす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383280" y="349300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6E6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したの カードを 上に ひっぱる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080760" y="1572768"/>
            <a:ext cx="2606040" cy="2514600"/>
          </a:xfrm>
          <a:prstGeom prst="roundRect">
            <a:avLst>
              <a:gd name="adj" fmla="val 5818"/>
            </a:avLst>
          </a:prstGeom>
          <a:solidFill>
            <a:srgbClr val="FFF8E1"/>
          </a:solidFill>
          <a:ln w="31750">
            <a:solidFill>
              <a:srgbClr val="E91E6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178040" y="1737360"/>
            <a:ext cx="420624" cy="420624"/>
          </a:xfrm>
          <a:prstGeom prst="ellipse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178040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3</a:t>
            </a:r>
            <a:endParaRPr lang="en-US" sz="1800" dirty="0"/>
          </a:p>
        </p:txBody>
      </p:sp>
      <p:pic>
        <p:nvPicPr>
          <p:cNvPr id="19" name="Image 2" descr="illust/kendam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2212848"/>
            <a:ext cx="868680" cy="8686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72200" y="31272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D4037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いらない ページを けす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172200" y="349300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6E6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つかわない ページは すてる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57200" y="43159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800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もじを うたなくても できるよ。「こまった」「かんがえた」ページも つくって みてね。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6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772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65100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あきの おもちゃ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965960" y="1691640"/>
            <a:ext cx="521208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31750">
            <a:solidFill>
              <a:srgbClr val="FFB74D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2075688" y="1691640"/>
            <a:ext cx="4992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E9E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（ おもちゃの なまえ 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0" y="2743200"/>
            <a:ext cx="365760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31750">
            <a:solidFill>
              <a:srgbClr val="FFB74D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852928" y="2743200"/>
            <a:ext cx="3438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E9E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1ねん　くみ　なまえ</a:t>
            </a:r>
            <a:endParaRPr lang="en-US" sz="1600" dirty="0"/>
          </a:p>
        </p:txBody>
      </p:sp>
      <p:pic>
        <p:nvPicPr>
          <p:cNvPr id="7" name="Image 0" descr="illust/dongu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46120"/>
            <a:ext cx="1188720" cy="1188720"/>
          </a:xfrm>
          <a:prstGeom prst="rect">
            <a:avLst/>
          </a:prstGeom>
        </p:spPr>
      </p:pic>
      <p:pic>
        <p:nvPicPr>
          <p:cNvPr id="8" name="Image 1" descr="illust/matsubokkur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320040"/>
            <a:ext cx="914400" cy="914400"/>
          </a:xfrm>
          <a:prstGeom prst="rect">
            <a:avLst/>
          </a:prstGeom>
        </p:spPr>
      </p:pic>
      <p:pic>
        <p:nvPicPr>
          <p:cNvPr id="9" name="Image 2" descr="illust/momij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274320"/>
            <a:ext cx="960120" cy="960120"/>
          </a:xfrm>
          <a:prstGeom prst="rect">
            <a:avLst/>
          </a:prstGeom>
        </p:spPr>
      </p:pic>
      <p:pic>
        <p:nvPicPr>
          <p:cNvPr id="10" name="Image 3" descr="illust/ris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3200400"/>
            <a:ext cx="1234440" cy="1234440"/>
          </a:xfrm>
          <a:prstGeom prst="rect">
            <a:avLst/>
          </a:prstGeom>
        </p:spPr>
      </p:pic>
      <p:pic>
        <p:nvPicPr>
          <p:cNvPr id="11" name="Image 4" descr="illust/ityou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840480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6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01168"/>
            <a:ext cx="8449056" cy="658368"/>
          </a:xfrm>
          <a:prstGeom prst="roundRect">
            <a:avLst>
              <a:gd name="adj" fmla="val 22222"/>
            </a:avLst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449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つかった あきの もの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87452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pic>
        <p:nvPicPr>
          <p:cNvPr id="5" name="Image 0" descr="illust/dongu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1161288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9202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D4037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どんぐり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587752" y="1051560"/>
            <a:ext cx="187452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pic>
        <p:nvPicPr>
          <p:cNvPr id="8" name="Image 1" descr="illust/matsubokkur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824" y="1161288"/>
            <a:ext cx="731520" cy="731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587752" y="19202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D4037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まつぼっくり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672584" y="1051560"/>
            <a:ext cx="187452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pic>
        <p:nvPicPr>
          <p:cNvPr id="11" name="Image 2" descr="illust/ochib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8656" y="1161288"/>
            <a:ext cx="731520" cy="7315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72584" y="19202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D4037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おちば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757416" y="1051560"/>
            <a:ext cx="187452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pic>
        <p:nvPicPr>
          <p:cNvPr id="14" name="Image 3" descr="illust/momij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3488" y="1161288"/>
            <a:ext cx="731520" cy="7315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57416" y="19202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D4037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もみじ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02920" y="2624328"/>
            <a:ext cx="187452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pic>
        <p:nvPicPr>
          <p:cNvPr id="17" name="Image 4" descr="illust/ityou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2734056"/>
            <a:ext cx="731520" cy="7315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02920" y="34930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D4037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いちょう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2587752" y="2624328"/>
            <a:ext cx="187452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pic>
        <p:nvPicPr>
          <p:cNvPr id="20" name="Image 5" descr="illust/kuri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3824" y="2734056"/>
            <a:ext cx="731520" cy="7315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2587752" y="34930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D4037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くり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4672584" y="2624328"/>
            <a:ext cx="187452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pic>
        <p:nvPicPr>
          <p:cNvPr id="23" name="Image 6" descr="illust/kinomi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8656" y="2734056"/>
            <a:ext cx="731520" cy="73152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4672584" y="34930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D4037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きのみ</a:t>
            </a:r>
            <a:endParaRPr lang="en-US" sz="1400" dirty="0"/>
          </a:p>
        </p:txBody>
      </p:sp>
      <p:sp>
        <p:nvSpPr>
          <p:cNvPr id="25" name="Shape 16"/>
          <p:cNvSpPr/>
          <p:nvPr/>
        </p:nvSpPr>
        <p:spPr>
          <a:xfrm>
            <a:off x="6757416" y="2624328"/>
            <a:ext cx="187452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pic>
        <p:nvPicPr>
          <p:cNvPr id="26" name="Image 7" descr="illust/tre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3488" y="2734056"/>
            <a:ext cx="731520" cy="73152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757416" y="34930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D4037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き の えだ</a:t>
            </a:r>
            <a:endParaRPr lang="en-US" sz="1400" dirty="0"/>
          </a:p>
        </p:txBody>
      </p:sp>
      <p:sp>
        <p:nvSpPr>
          <p:cNvPr id="28" name="Text 18"/>
          <p:cNvSpPr/>
          <p:nvPr/>
        </p:nvSpPr>
        <p:spPr>
          <a:xfrm>
            <a:off x="457200" y="45765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6E6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つかって いない ものは、えらんで けそう（けす ボタン）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6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01168"/>
            <a:ext cx="8449056" cy="658368"/>
          </a:xfrm>
          <a:prstGeom prst="roundRect">
            <a:avLst>
              <a:gd name="adj" fmla="val 22222"/>
            </a:avLst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449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どんな おもちゃ？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3931920" cy="2880360"/>
          </a:xfrm>
          <a:prstGeom prst="roundRect">
            <a:avLst>
              <a:gd name="adj" fmla="val 4444"/>
            </a:avLst>
          </a:prstGeom>
          <a:solidFill>
            <a:srgbClr val="ECEFF1"/>
          </a:solidFill>
          <a:ln w="31750">
            <a:solidFill>
              <a:srgbClr val="90A4AE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02920" y="1024128"/>
            <a:ext cx="39319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07D8B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しゃしんを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07D8B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ここに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09160" y="1024128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1750">
            <a:solidFill>
              <a:srgbClr val="FFB74D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818888" y="1024128"/>
            <a:ext cx="37124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9E9E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これは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9E9E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（　　　　　　）です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709160" y="2487168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31750">
            <a:solidFill>
              <a:srgbClr val="FFB74D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818888" y="2487168"/>
            <a:ext cx="37124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9E9E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（　　　　　　）で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9E9E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つくりました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47472" y="4210812"/>
            <a:ext cx="8449056" cy="786384"/>
          </a:xfrm>
          <a:prstGeom prst="roundRect">
            <a:avLst>
              <a:gd name="adj" fmla="val 16279"/>
            </a:avLst>
          </a:prstGeom>
          <a:solidFill>
            <a:srgbClr val="FFE9C7"/>
          </a:solidFill>
          <a:ln w="12700">
            <a:solidFill>
              <a:srgbClr val="FFE9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23824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6E6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ことばカード … つかう ことばを、上の（　）の ところへ ドラッグしよう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こま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4404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7147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けんだま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3088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5831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やじろべえ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4515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マラカス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0456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199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めいろ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9140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1883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おめん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6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01168"/>
            <a:ext cx="8449056" cy="658368"/>
          </a:xfrm>
          <a:prstGeom prst="roundRect">
            <a:avLst>
              <a:gd name="adj" fmla="val 22222"/>
            </a:avLst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449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つくりかた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600200" y="960120"/>
            <a:ext cx="402336" cy="402336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00200" y="960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①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2606040" cy="1508760"/>
          </a:xfrm>
          <a:prstGeom prst="roundRect">
            <a:avLst>
              <a:gd name="adj" fmla="val 8485"/>
            </a:avLst>
          </a:prstGeom>
          <a:solidFill>
            <a:srgbClr val="ECEFF1"/>
          </a:solidFill>
          <a:ln w="31750">
            <a:solidFill>
              <a:srgbClr val="90A4AE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2920" y="1444752"/>
            <a:ext cx="2606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07D8B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しゃしんを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07D8B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ここに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035808"/>
            <a:ext cx="26060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31750">
            <a:solidFill>
              <a:srgbClr val="FFB74D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12648" y="3035808"/>
            <a:ext cx="23865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E9E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（　　　　　）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89120" y="960120"/>
            <a:ext cx="402336" cy="402336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960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②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291840" y="1444752"/>
            <a:ext cx="2606040" cy="1508760"/>
          </a:xfrm>
          <a:prstGeom prst="roundRect">
            <a:avLst>
              <a:gd name="adj" fmla="val 8485"/>
            </a:avLst>
          </a:prstGeom>
          <a:solidFill>
            <a:srgbClr val="ECEFF1"/>
          </a:solidFill>
          <a:ln w="31750">
            <a:solidFill>
              <a:srgbClr val="90A4A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291840" y="1444752"/>
            <a:ext cx="2606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07D8B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しゃしんを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07D8B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ここに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91840" y="3035808"/>
            <a:ext cx="26060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31750">
            <a:solidFill>
              <a:srgbClr val="FFB74D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3401568" y="3035808"/>
            <a:ext cx="23865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E9E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（　　　　　）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178040" y="960120"/>
            <a:ext cx="402336" cy="402336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8040" y="960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③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080760" y="1444752"/>
            <a:ext cx="2606040" cy="1508760"/>
          </a:xfrm>
          <a:prstGeom prst="roundRect">
            <a:avLst>
              <a:gd name="adj" fmla="val 8485"/>
            </a:avLst>
          </a:prstGeom>
          <a:solidFill>
            <a:srgbClr val="ECEFF1"/>
          </a:solidFill>
          <a:ln w="31750">
            <a:solidFill>
              <a:srgbClr val="90A4AE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080760" y="1444752"/>
            <a:ext cx="2606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07D8B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しゃしんを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07D8B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ここに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80760" y="3035808"/>
            <a:ext cx="26060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31750">
            <a:solidFill>
              <a:srgbClr val="FFB74D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6190488" y="3035808"/>
            <a:ext cx="23865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E9E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（　　　　　）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47472" y="4210812"/>
            <a:ext cx="8449056" cy="786384"/>
          </a:xfrm>
          <a:prstGeom prst="roundRect">
            <a:avLst>
              <a:gd name="adj" fmla="val 16279"/>
            </a:avLst>
          </a:prstGeom>
          <a:solidFill>
            <a:srgbClr val="FFE9C7"/>
          </a:solidFill>
          <a:ln w="12700">
            <a:solidFill>
              <a:srgbClr val="FFE9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23824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6E6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ことばカード … つかう ことばを、上の（　）の ところへ ドラッグしよう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あなを あける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4404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7147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ぼうを さす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3088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5831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のりで つける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1772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4515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テープで とめる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0456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199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いろを ぬる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39140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1883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ひもを つける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6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01168"/>
            <a:ext cx="8449056" cy="658368"/>
          </a:xfrm>
          <a:prstGeom prst="roundRect">
            <a:avLst>
              <a:gd name="adj" fmla="val 22222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449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やって みたら… こまった!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3657600" cy="2880360"/>
          </a:xfrm>
          <a:prstGeom prst="roundRect">
            <a:avLst>
              <a:gd name="adj" fmla="val 4444"/>
            </a:avLst>
          </a:prstGeom>
          <a:solidFill>
            <a:srgbClr val="ECEFF1"/>
          </a:solidFill>
          <a:ln w="31750">
            <a:solidFill>
              <a:srgbClr val="90A4AE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02920" y="1024128"/>
            <a:ext cx="3657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07D8B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しゃしんを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07D8B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ここに</a:t>
            </a:r>
            <a:endParaRPr lang="en-US" sz="1400" dirty="0"/>
          </a:p>
        </p:txBody>
      </p:sp>
      <p:pic>
        <p:nvPicPr>
          <p:cNvPr id="6" name="Image 0" descr="illust/komat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051560"/>
            <a:ext cx="1234440" cy="1234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532120" y="1143000"/>
            <a:ext cx="31089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1750">
            <a:solidFill>
              <a:srgbClr val="EF9A9A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5641848" y="1143000"/>
            <a:ext cx="28895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E9E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（　　　　　　）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9E9E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ので こまった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43400" y="2514600"/>
            <a:ext cx="4297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EF9A9A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4453128" y="2514600"/>
            <a:ext cx="4078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E9E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なんかいも やって みたけど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E9E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うまく いかなかった…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47472" y="4210812"/>
            <a:ext cx="8449056" cy="786384"/>
          </a:xfrm>
          <a:prstGeom prst="roundRect">
            <a:avLst>
              <a:gd name="adj" fmla="val 16279"/>
            </a:avLst>
          </a:prstGeom>
          <a:solidFill>
            <a:srgbClr val="FFE9C7"/>
          </a:solidFill>
          <a:ln w="12700">
            <a:solidFill>
              <a:srgbClr val="FFE9C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23824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6E6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ことばカード … つかう ことばを、上の（　）の ところへ ドラッグしよう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463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まわらない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84404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87147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すぐ たおれる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3088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5831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とれちゃう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61772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4515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おもすぎる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00456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3199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ひもが みじかい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39140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1883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あなが ずれた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6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01168"/>
            <a:ext cx="8449056" cy="658368"/>
          </a:xfrm>
          <a:prstGeom prst="roundRect">
            <a:avLst>
              <a:gd name="adj" fmla="val 22222"/>
            </a:avLst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449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どうしたら いいかな?</a:t>
            </a:r>
            <a:endParaRPr lang="en-US" sz="2600" dirty="0"/>
          </a:p>
        </p:txBody>
      </p:sp>
      <p:pic>
        <p:nvPicPr>
          <p:cNvPr id="4" name="Image 0" descr="illust/kangaer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94560"/>
            <a:ext cx="1691640" cy="1691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468880" y="1024128"/>
            <a:ext cx="3017520" cy="1234440"/>
          </a:xfrm>
          <a:prstGeom prst="roundRect">
            <a:avLst>
              <a:gd name="adj" fmla="val 16296"/>
            </a:avLst>
          </a:prstGeom>
          <a:solidFill>
            <a:srgbClr val="FFFFFF"/>
          </a:solidFill>
          <a:ln w="31750">
            <a:solidFill>
              <a:srgbClr val="B39DD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606040" y="1024128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E9E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もしかして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E9E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（　　　　　）かな?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623560" y="1024128"/>
            <a:ext cx="3017520" cy="1234440"/>
          </a:xfrm>
          <a:prstGeom prst="roundRect">
            <a:avLst>
              <a:gd name="adj" fmla="val 16296"/>
            </a:avLst>
          </a:prstGeom>
          <a:solidFill>
            <a:srgbClr val="FFFFFF"/>
          </a:solidFill>
          <a:ln w="31750">
            <a:solidFill>
              <a:srgbClr val="B39D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60720" y="1024128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E9E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（　　　　　）を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E9E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かえて みようかな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468880" y="2423160"/>
            <a:ext cx="6172200" cy="1417320"/>
          </a:xfrm>
          <a:prstGeom prst="roundRect">
            <a:avLst>
              <a:gd name="adj" fmla="val 14194"/>
            </a:avLst>
          </a:prstGeom>
          <a:solidFill>
            <a:srgbClr val="FFFFFF"/>
          </a:solidFill>
          <a:ln w="31750">
            <a:solidFill>
              <a:srgbClr val="B39D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06040" y="2423160"/>
            <a:ext cx="5897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E9E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ともだちが（　　　　　　　　）と おしえて くれた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47472" y="4210812"/>
            <a:ext cx="8449056" cy="786384"/>
          </a:xfrm>
          <a:prstGeom prst="roundRect">
            <a:avLst>
              <a:gd name="adj" fmla="val 16279"/>
            </a:avLst>
          </a:prstGeom>
          <a:solidFill>
            <a:srgbClr val="FFE9C7"/>
          </a:solidFill>
          <a:ln w="12700">
            <a:solidFill>
              <a:srgbClr val="FFE9C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23824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6E6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ことばカード … つかう ことばを、上の（　）の ところへ ドラッグしよう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463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ぼうの ながさ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84404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87147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あなの ばしょ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3088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5831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おもさ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61772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4515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ざいりょう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00456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3199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むすびかた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39140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1883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かたち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6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01168"/>
            <a:ext cx="8449056" cy="658368"/>
          </a:xfrm>
          <a:prstGeom prst="roundRect">
            <a:avLst>
              <a:gd name="adj" fmla="val 22222"/>
            </a:avLst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449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こうして みたら… できた!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D6E6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まえ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200400" cy="2011680"/>
          </a:xfrm>
          <a:prstGeom prst="roundRect">
            <a:avLst>
              <a:gd name="adj" fmla="val 6364"/>
            </a:avLst>
          </a:prstGeom>
          <a:solidFill>
            <a:srgbClr val="ECEFF1"/>
          </a:solidFill>
          <a:ln w="31750">
            <a:solidFill>
              <a:srgbClr val="90A4AE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07D8B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しゃしんを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07D8B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ここに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913632" y="2011680"/>
            <a:ext cx="1005840" cy="685800"/>
          </a:xfrm>
          <a:prstGeom prst="rightArrow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74920" y="960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D6E6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あと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74920" y="1325880"/>
            <a:ext cx="3200400" cy="2011680"/>
          </a:xfrm>
          <a:prstGeom prst="roundRect">
            <a:avLst>
              <a:gd name="adj" fmla="val 6364"/>
            </a:avLst>
          </a:prstGeom>
          <a:solidFill>
            <a:srgbClr val="ECEFF1"/>
          </a:solidFill>
          <a:ln w="31750">
            <a:solidFill>
              <a:srgbClr val="90A4A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074920" y="132588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07D8B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しゃしんを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07D8B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ここに</a:t>
            </a:r>
            <a:endParaRPr lang="en-US" sz="1300" dirty="0"/>
          </a:p>
        </p:txBody>
      </p:sp>
      <p:pic>
        <p:nvPicPr>
          <p:cNvPr id="11" name="Image 0" descr="illust/deki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3063240"/>
            <a:ext cx="1005840" cy="100584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48640" y="3456432"/>
            <a:ext cx="73152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31750">
            <a:solidFill>
              <a:srgbClr val="A5D6A7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658368" y="3456432"/>
            <a:ext cx="7095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E9E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（　　　　　　　）を かえたら、うまく いった!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347472" y="4210812"/>
            <a:ext cx="8449056" cy="786384"/>
          </a:xfrm>
          <a:prstGeom prst="roundRect">
            <a:avLst>
              <a:gd name="adj" fmla="val 16279"/>
            </a:avLst>
          </a:prstGeom>
          <a:solidFill>
            <a:srgbClr val="FFE9C7"/>
          </a:solidFill>
          <a:ln w="12700">
            <a:solidFill>
              <a:srgbClr val="FFE9C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423824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6E6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ことばカード … つかう ことばを、上の（　）の ところへ ドラッグしよう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463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ながさ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84404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87147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おもさ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23088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5831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ばしょ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61772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4515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かたち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00456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3199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むすびかた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39140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1883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ざいりょう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6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01168"/>
            <a:ext cx="8449056" cy="658368"/>
          </a:xfrm>
          <a:prstGeom prst="roundRect">
            <a:avLst>
              <a:gd name="adj" fmla="val 22222"/>
            </a:avLst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449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なんかい やったかな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6E6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やって みた かず だけ、⭐️を コピーして ふやそう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813816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31750">
            <a:solidFill>
              <a:srgbClr val="FFCC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813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⭐️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45920" y="14813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⭐️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377440" y="14813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⭐️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108960" y="14813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⭐️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840480" y="14813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⭐️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22960" y="2468880"/>
            <a:ext cx="2286000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31750">
            <a:solidFill>
              <a:srgbClr val="EF9A9A"/>
            </a:solidFill>
            <a:prstDash val="solid"/>
          </a:ln>
        </p:spPr>
      </p:sp>
      <p:pic>
        <p:nvPicPr>
          <p:cNvPr id="12" name="Image 0" descr="illust/komat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542032"/>
            <a:ext cx="731520" cy="7315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2960" y="33101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D4037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はじめは…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3154680" y="2971800"/>
            <a:ext cx="320040" cy="365760"/>
          </a:xfrm>
          <a:prstGeom prst="rightArrow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20440" y="2468880"/>
            <a:ext cx="2286000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31750">
            <a:solidFill>
              <a:srgbClr val="B39DDB"/>
            </a:solidFill>
            <a:prstDash val="solid"/>
          </a:ln>
        </p:spPr>
      </p:sp>
      <p:pic>
        <p:nvPicPr>
          <p:cNvPr id="16" name="Image 1" descr="illust/kangaer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2542032"/>
            <a:ext cx="731520" cy="7315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520440" y="33101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D4037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かんがえた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5852160" y="2971800"/>
            <a:ext cx="320040" cy="365760"/>
          </a:xfrm>
          <a:prstGeom prst="rightArrow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17920" y="2468880"/>
            <a:ext cx="2286000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31750">
            <a:solidFill>
              <a:srgbClr val="A5D6A7"/>
            </a:solidFill>
            <a:prstDash val="solid"/>
          </a:ln>
        </p:spPr>
      </p:sp>
      <p:pic>
        <p:nvPicPr>
          <p:cNvPr id="20" name="Image 2" descr="illust/deki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2542032"/>
            <a:ext cx="731520" cy="7315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17920" y="33101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D4037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できた!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502920" y="404164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6E6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きもちの うつりかわり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6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01168"/>
            <a:ext cx="8449056" cy="658368"/>
          </a:xfrm>
          <a:prstGeom prst="roundRect">
            <a:avLst>
              <a:gd name="adj" fmla="val 22222"/>
            </a:avLst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449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あそびかた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709160" y="1024128"/>
            <a:ext cx="3931920" cy="2880360"/>
          </a:xfrm>
          <a:prstGeom prst="roundRect">
            <a:avLst>
              <a:gd name="adj" fmla="val 4444"/>
            </a:avLst>
          </a:prstGeom>
          <a:solidFill>
            <a:srgbClr val="ECEFF1"/>
          </a:solidFill>
          <a:ln w="31750">
            <a:solidFill>
              <a:srgbClr val="90A4AE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709160" y="1024128"/>
            <a:ext cx="39319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07D8B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しゃしんを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07D8B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ここに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1750">
            <a:solidFill>
              <a:srgbClr val="FFB74D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12648" y="1024128"/>
            <a:ext cx="37124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9E9E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（　　　　　　）と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9E9E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あそびます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02920" y="2487168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31750">
            <a:solidFill>
              <a:srgbClr val="FFB74D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12648" y="2487168"/>
            <a:ext cx="37124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9E9E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（　　　　　　）が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9E9E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おもしろいよ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47472" y="4210812"/>
            <a:ext cx="8449056" cy="786384"/>
          </a:xfrm>
          <a:prstGeom prst="roundRect">
            <a:avLst>
              <a:gd name="adj" fmla="val 16279"/>
            </a:avLst>
          </a:prstGeom>
          <a:solidFill>
            <a:srgbClr val="FFE9C7"/>
          </a:solidFill>
          <a:ln w="12700">
            <a:solidFill>
              <a:srgbClr val="FFE9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23824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6E6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ことばカード … つかう ことばを、上の（　）の ところへ ドラッグしよう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くるくる まわる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4404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7147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ころがる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3088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5831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ぴょんと とぶ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4515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おとが なる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0456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199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かぶって あそぶ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9140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1883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ゆらゆら する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6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01168"/>
            <a:ext cx="8449056" cy="658368"/>
          </a:xfrm>
          <a:prstGeom prst="roundRect">
            <a:avLst>
              <a:gd name="adj" fmla="val 22222"/>
            </a:avLst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449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くふうした ところ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51206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1750">
            <a:solidFill>
              <a:srgbClr val="FFB74D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12648" y="1051560"/>
            <a:ext cx="49011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E9E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（　　　　　　　　）を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9E9E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くふうしました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251460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FFB74D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12648" y="2514600"/>
            <a:ext cx="4901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E9E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（　　　　　　　　）が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9E9E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むずかしかったよ</a:t>
            </a:r>
            <a:endParaRPr lang="en-US" sz="2000" dirty="0"/>
          </a:p>
        </p:txBody>
      </p:sp>
      <p:pic>
        <p:nvPicPr>
          <p:cNvPr id="8" name="Image 0" descr="illust/yajir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234440"/>
            <a:ext cx="1371600" cy="1371600"/>
          </a:xfrm>
          <a:prstGeom prst="rect">
            <a:avLst/>
          </a:prstGeom>
        </p:spPr>
      </p:pic>
      <p:pic>
        <p:nvPicPr>
          <p:cNvPr id="9" name="Image 1" descr="illust/komm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377440"/>
            <a:ext cx="1280160" cy="12801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7472" y="4210812"/>
            <a:ext cx="8449056" cy="786384"/>
          </a:xfrm>
          <a:prstGeom prst="roundRect">
            <a:avLst>
              <a:gd name="adj" fmla="val 16279"/>
            </a:avLst>
          </a:prstGeom>
          <a:solidFill>
            <a:srgbClr val="FFE9C7"/>
          </a:solidFill>
          <a:ln w="12700">
            <a:solidFill>
              <a:srgbClr val="FFE9C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423824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6E6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ことばカード … つかう ことばを、上の（　）の ところへ ドラッグしよう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8463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いろ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184404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87147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おおきさ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23088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25831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もよう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61772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64515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ひもの ながさ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00456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03199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かざり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739140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41883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あなの ばしょ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6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01168"/>
            <a:ext cx="8449056" cy="658368"/>
          </a:xfrm>
          <a:prstGeom prst="roundRect">
            <a:avLst>
              <a:gd name="adj" fmla="val 22222"/>
            </a:avLst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449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かんそう</a:t>
            </a:r>
            <a:endParaRPr lang="en-US" sz="2600" dirty="0"/>
          </a:p>
        </p:txBody>
      </p:sp>
      <p:pic>
        <p:nvPicPr>
          <p:cNvPr id="4" name="Image 0" descr="illust/deki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005840"/>
            <a:ext cx="1005840" cy="1005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024128"/>
            <a:ext cx="69494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31750">
            <a:solidFill>
              <a:srgbClr val="FFAB91"/>
            </a:solidFill>
            <a:prstDash val="dash"/>
          </a:ln>
        </p:spPr>
      </p:sp>
      <p:sp>
        <p:nvSpPr>
          <p:cNvPr id="6" name="Text 3"/>
          <p:cNvSpPr/>
          <p:nvPr/>
        </p:nvSpPr>
        <p:spPr>
          <a:xfrm>
            <a:off x="612648" y="1024128"/>
            <a:ext cx="67299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E9E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いちばん がんばったのは（　　　　　　　）です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02920" y="2121408"/>
            <a:ext cx="81381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FFB74D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612648" y="2121408"/>
            <a:ext cx="7918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E9E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つくって みて（　　　　　　　　）でした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02920" y="3154680"/>
            <a:ext cx="81381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1750">
            <a:solidFill>
              <a:srgbClr val="FFB74D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612648" y="3154680"/>
            <a:ext cx="7918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E9E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つぎは（　　　　　　　　）を つくりたいです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47472" y="4210812"/>
            <a:ext cx="8449056" cy="786384"/>
          </a:xfrm>
          <a:prstGeom prst="roundRect">
            <a:avLst>
              <a:gd name="adj" fmla="val 16279"/>
            </a:avLst>
          </a:prstGeom>
          <a:solidFill>
            <a:srgbClr val="FFE9C7"/>
          </a:solidFill>
          <a:ln w="12700">
            <a:solidFill>
              <a:srgbClr val="FFE9C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23824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6E6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ことばカード … つかう ことばを、上の（　）の ところへ ドラッグしよう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463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あきらめなかった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84404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87147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なんども やった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3088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5831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そうだんした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61772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4515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さいごまで やった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00456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3199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たのしかった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391400" y="4503420"/>
            <a:ext cx="1313688" cy="420624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18832" y="4503420"/>
            <a:ext cx="1258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4C41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くやしかった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6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65100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あそんで みて ね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D4037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きいて くれて ありがとう</a:t>
            </a:r>
            <a:endParaRPr lang="en-US" sz="2200" dirty="0"/>
          </a:p>
        </p:txBody>
      </p:sp>
      <p:pic>
        <p:nvPicPr>
          <p:cNvPr id="4" name="Image 0" descr="illust/kend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063240"/>
            <a:ext cx="1280160" cy="1280160"/>
          </a:xfrm>
          <a:prstGeom prst="rect">
            <a:avLst/>
          </a:prstGeom>
        </p:spPr>
      </p:pic>
      <p:pic>
        <p:nvPicPr>
          <p:cNvPr id="5" name="Image 1" descr="illust/marac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3291840"/>
            <a:ext cx="1143000" cy="1143000"/>
          </a:xfrm>
          <a:prstGeom prst="rect">
            <a:avLst/>
          </a:prstGeom>
        </p:spPr>
      </p:pic>
      <p:pic>
        <p:nvPicPr>
          <p:cNvPr id="6" name="Image 2" descr="illust/kinom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3383280"/>
            <a:ext cx="1051560" cy="1051560"/>
          </a:xfrm>
          <a:prstGeom prst="rect">
            <a:avLst/>
          </a:prstGeom>
        </p:spPr>
      </p:pic>
      <p:pic>
        <p:nvPicPr>
          <p:cNvPr id="7" name="Image 3" descr="illust/ris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3063240"/>
            <a:ext cx="1280160" cy="1280160"/>
          </a:xfrm>
          <a:prstGeom prst="rect">
            <a:avLst/>
          </a:prstGeom>
        </p:spPr>
      </p:pic>
      <p:pic>
        <p:nvPicPr>
          <p:cNvPr id="8" name="Image 4" descr="illust/ochib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57200"/>
            <a:ext cx="822960" cy="822960"/>
          </a:xfrm>
          <a:prstGeom prst="rect">
            <a:avLst/>
          </a:prstGeom>
        </p:spPr>
      </p:pic>
      <p:pic>
        <p:nvPicPr>
          <p:cNvPr id="9" name="Image 5" descr="illust/momiji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50292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2026-08-05T06:17:24Z</dcterms:created>
  <dcterms:modified xsi:type="dcterms:W3CDTF">2026-08-05T06:17:24Z</dcterms:modified>
</cp:coreProperties>
</file>