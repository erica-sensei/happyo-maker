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先生用の説明ページ。児童に見せて説明したあと、削除しても構いません。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表紙。おもちゃの名前と自分の名前を入れます。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使った材料のカードだけ残します。文字入力なしで作れるページです。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作ったおもちゃの写真と名前。ことばカードから選んで空欄に入れます。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作り方を3つの写真で。ことばカードを空欄に入れます。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うまくいかなかったことのページ。ここが一番大事です。失敗の写真があれば貼ります。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考えたことを吹き出しに。「友だちが教えてくれた」を入れると、学び合いが見えます。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直す前と後の写真を並べます。変化が一目で伝わります。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試した回数と気持ちの変化。星はコピー＆ペーストで増やせます。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遊び方。動画を入れるとよく伝わります。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工夫と難しかったところ。1年生には「くふう＝がんばったところ」と言い換えると伝わります。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感想。ことばカードで選べるので、書くのが苦手な子も完成できます。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園児との交流会に向けたページ。「どう遊んでもらいたいか」「何と言ってもらえたら嬉しいか」を考えることで、相手意識が育ちます。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image" Target="../media/image-2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image" Target="../media/image-3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5D4037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わくわく! あきの おもちゃづくり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1024128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9800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つくりかた は かんたん 3つ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502920" y="1572768"/>
            <a:ext cx="2606040" cy="2514600"/>
          </a:xfrm>
          <a:prstGeom prst="roundRect">
            <a:avLst>
              <a:gd name="adj" fmla="val 5818"/>
            </a:avLst>
          </a:prstGeom>
          <a:solidFill>
            <a:srgbClr val="FFF8E1"/>
          </a:solidFill>
          <a:ln w="31750">
            <a:solidFill>
              <a:srgbClr val="2196F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600200" y="1737360"/>
            <a:ext cx="420624" cy="420624"/>
          </a:xfrm>
          <a:prstGeom prst="ellipse">
            <a:avLst/>
          </a:prstGeom>
          <a:solidFill>
            <a:srgbClr val="2196F3"/>
          </a:solidFill>
          <a:ln w="12700">
            <a:solidFill>
              <a:srgbClr val="2196F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600200" y="173736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1</a:t>
            </a:r>
            <a:endParaRPr lang="en-US" sz="1800" dirty="0"/>
          </a:p>
        </p:txBody>
      </p:sp>
      <p:pic>
        <p:nvPicPr>
          <p:cNvPr id="7" name="Image 0" descr="illust/komm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71600" y="2212848"/>
            <a:ext cx="868680" cy="8686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594360" y="3127248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5D4037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しゃしんを いれる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594360" y="3493008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D6E63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はいいろの ところを おす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3291840" y="1572768"/>
            <a:ext cx="2606040" cy="2514600"/>
          </a:xfrm>
          <a:prstGeom prst="roundRect">
            <a:avLst>
              <a:gd name="adj" fmla="val 5818"/>
            </a:avLst>
          </a:prstGeom>
          <a:solidFill>
            <a:srgbClr val="FFF8E1"/>
          </a:solidFill>
          <a:ln w="31750">
            <a:solidFill>
              <a:srgbClr val="4CAF50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389120" y="1737360"/>
            <a:ext cx="420624" cy="420624"/>
          </a:xfrm>
          <a:prstGeom prst="ellipse">
            <a:avLst/>
          </a:prstGeom>
          <a:solidFill>
            <a:srgbClr val="4CAF50"/>
          </a:solidFill>
          <a:ln w="12700">
            <a:solidFill>
              <a:srgbClr val="4CAF50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389120" y="173736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2</a:t>
            </a:r>
            <a:endParaRPr lang="en-US" sz="1800" dirty="0"/>
          </a:p>
        </p:txBody>
      </p:sp>
      <p:pic>
        <p:nvPicPr>
          <p:cNvPr id="13" name="Image 1" descr="illust/maraca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60520" y="2212848"/>
            <a:ext cx="868680" cy="86868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3383280" y="3127248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5D4037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ことばカードを うごかす</a:t>
            </a:r>
            <a:endParaRPr lang="en-US" sz="1500" dirty="0"/>
          </a:p>
        </p:txBody>
      </p:sp>
      <p:sp>
        <p:nvSpPr>
          <p:cNvPr id="15" name="Text 11"/>
          <p:cNvSpPr/>
          <p:nvPr/>
        </p:nvSpPr>
        <p:spPr>
          <a:xfrm>
            <a:off x="3383280" y="3493008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D6E63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したの カードを 上に ひっぱる</a:t>
            </a:r>
            <a:endParaRPr lang="en-US" sz="1200" dirty="0"/>
          </a:p>
        </p:txBody>
      </p:sp>
      <p:sp>
        <p:nvSpPr>
          <p:cNvPr id="16" name="Shape 12"/>
          <p:cNvSpPr/>
          <p:nvPr/>
        </p:nvSpPr>
        <p:spPr>
          <a:xfrm>
            <a:off x="6080760" y="1572768"/>
            <a:ext cx="2606040" cy="2514600"/>
          </a:xfrm>
          <a:prstGeom prst="roundRect">
            <a:avLst>
              <a:gd name="adj" fmla="val 5818"/>
            </a:avLst>
          </a:prstGeom>
          <a:solidFill>
            <a:srgbClr val="FFF8E1"/>
          </a:solidFill>
          <a:ln w="31750">
            <a:solidFill>
              <a:srgbClr val="E91E63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7178040" y="1737360"/>
            <a:ext cx="420624" cy="420624"/>
          </a:xfrm>
          <a:prstGeom prst="ellipse">
            <a:avLst/>
          </a:prstGeom>
          <a:solidFill>
            <a:srgbClr val="E91E63"/>
          </a:solidFill>
          <a:ln w="12700">
            <a:solidFill>
              <a:srgbClr val="E91E6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7178040" y="173736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3</a:t>
            </a:r>
            <a:endParaRPr lang="en-US" sz="1800" dirty="0"/>
          </a:p>
        </p:txBody>
      </p:sp>
      <p:pic>
        <p:nvPicPr>
          <p:cNvPr id="19" name="Image 2" descr="illust/kendama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0" y="2212848"/>
            <a:ext cx="868680" cy="86868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6172200" y="3127248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5D4037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いらない ページを けす</a:t>
            </a:r>
            <a:endParaRPr lang="en-US" sz="1500" dirty="0"/>
          </a:p>
        </p:txBody>
      </p:sp>
      <p:sp>
        <p:nvSpPr>
          <p:cNvPr id="21" name="Text 16"/>
          <p:cNvSpPr/>
          <p:nvPr/>
        </p:nvSpPr>
        <p:spPr>
          <a:xfrm>
            <a:off x="6172200" y="3493008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D6E63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つかわない ページは すてる</a:t>
            </a:r>
            <a:endParaRPr lang="en-US" sz="1200" dirty="0"/>
          </a:p>
        </p:txBody>
      </p:sp>
      <p:sp>
        <p:nvSpPr>
          <p:cNvPr id="22" name="Text 17"/>
          <p:cNvSpPr/>
          <p:nvPr/>
        </p:nvSpPr>
        <p:spPr>
          <a:xfrm>
            <a:off x="457200" y="4315968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9800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もじを うたなくても できるよ。「こまった」「かんがえた」ページも つくって みてね。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6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B8C00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わくわく!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E65100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あきの おもちゃづくり</a:t>
            </a:r>
            <a:endParaRPr lang="en-US" sz="4400" dirty="0"/>
          </a:p>
        </p:txBody>
      </p:sp>
      <p:sp>
        <p:nvSpPr>
          <p:cNvPr id="4" name="Shape 2"/>
          <p:cNvSpPr/>
          <p:nvPr/>
        </p:nvSpPr>
        <p:spPr>
          <a:xfrm>
            <a:off x="1965960" y="1938528"/>
            <a:ext cx="5212080" cy="804672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31750">
            <a:solidFill>
              <a:srgbClr val="FFB74D"/>
            </a:solidFill>
            <a:prstDash val="dash"/>
          </a:ln>
        </p:spPr>
      </p:sp>
      <p:sp>
        <p:nvSpPr>
          <p:cNvPr id="5" name="Text 3"/>
          <p:cNvSpPr/>
          <p:nvPr/>
        </p:nvSpPr>
        <p:spPr>
          <a:xfrm>
            <a:off x="2075688" y="1938528"/>
            <a:ext cx="499262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9E9E9E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（ おもちゃの なまえ ）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2743200" y="2926080"/>
            <a:ext cx="3657600" cy="603504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31750">
            <a:solidFill>
              <a:srgbClr val="FFB74D"/>
            </a:solidFill>
            <a:prstDash val="dash"/>
          </a:ln>
        </p:spPr>
      </p:sp>
      <p:sp>
        <p:nvSpPr>
          <p:cNvPr id="7" name="Text 5"/>
          <p:cNvSpPr/>
          <p:nvPr/>
        </p:nvSpPr>
        <p:spPr>
          <a:xfrm>
            <a:off x="2852928" y="2926080"/>
            <a:ext cx="3438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9E9E9E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1ねん　くみ　なまえ</a:t>
            </a:r>
            <a:endParaRPr lang="en-US" sz="1600" dirty="0"/>
          </a:p>
        </p:txBody>
      </p:sp>
      <p:pic>
        <p:nvPicPr>
          <p:cNvPr id="8" name="Image 0" descr="illust/dekit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3246120"/>
            <a:ext cx="1234440" cy="1234440"/>
          </a:xfrm>
          <a:prstGeom prst="rect">
            <a:avLst/>
          </a:prstGeom>
        </p:spPr>
      </p:pic>
      <p:pic>
        <p:nvPicPr>
          <p:cNvPr id="9" name="Image 1" descr="illust/matsubokkuri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" y="274320"/>
            <a:ext cx="914400" cy="914400"/>
          </a:xfrm>
          <a:prstGeom prst="rect">
            <a:avLst/>
          </a:prstGeom>
        </p:spPr>
      </p:pic>
      <p:pic>
        <p:nvPicPr>
          <p:cNvPr id="10" name="Image 2" descr="illust/momiji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23760" y="256032"/>
            <a:ext cx="960120" cy="960120"/>
          </a:xfrm>
          <a:prstGeom prst="rect">
            <a:avLst/>
          </a:prstGeom>
        </p:spPr>
      </p:pic>
      <p:pic>
        <p:nvPicPr>
          <p:cNvPr id="11" name="Image 3" descr="illust/risu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43800" y="3200400"/>
            <a:ext cx="1234440" cy="1234440"/>
          </a:xfrm>
          <a:prstGeom prst="rect">
            <a:avLst/>
          </a:prstGeom>
        </p:spPr>
      </p:pic>
      <p:pic>
        <p:nvPicPr>
          <p:cNvPr id="12" name="Image 4" descr="illust/komma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74520" y="3749040"/>
            <a:ext cx="914400" cy="914400"/>
          </a:xfrm>
          <a:prstGeom prst="rect">
            <a:avLst/>
          </a:prstGeom>
        </p:spPr>
      </p:pic>
      <p:pic>
        <p:nvPicPr>
          <p:cNvPr id="13" name="Image 5" descr="illust/maracas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63640" y="3794760"/>
            <a:ext cx="868680" cy="868680"/>
          </a:xfrm>
          <a:prstGeom prst="rect">
            <a:avLst/>
          </a:prstGeom>
        </p:spPr>
      </p:pic>
      <p:pic>
        <p:nvPicPr>
          <p:cNvPr id="14" name="Image 6" descr="illust/kinomi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92440" y="960120"/>
            <a:ext cx="777240" cy="777240"/>
          </a:xfrm>
          <a:prstGeom prst="rect">
            <a:avLst/>
          </a:prstGeom>
        </p:spPr>
      </p:pic>
      <p:pic>
        <p:nvPicPr>
          <p:cNvPr id="15" name="Image 7" descr="illust/ityou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20040" y="1371600"/>
            <a:ext cx="731520" cy="73152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6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47472" y="201168"/>
            <a:ext cx="8449056" cy="658368"/>
          </a:xfrm>
          <a:prstGeom prst="roundRect">
            <a:avLst>
              <a:gd name="adj" fmla="val 22222"/>
            </a:avLst>
          </a:prstGeom>
          <a:solidFill>
            <a:srgbClr val="FF9800"/>
          </a:solidFill>
          <a:ln w="12700">
            <a:solidFill>
              <a:srgbClr val="FF98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47472" y="201168"/>
            <a:ext cx="844905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つかった あきの もの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1051560"/>
            <a:ext cx="1874520" cy="1417320"/>
          </a:xfrm>
          <a:prstGeom prst="roundRect">
            <a:avLst>
              <a:gd name="adj" fmla="val 9032"/>
            </a:avLst>
          </a:prstGeom>
          <a:solidFill>
            <a:srgbClr val="FFFFFF"/>
          </a:solidFill>
          <a:ln w="25400">
            <a:solidFill>
              <a:srgbClr val="FFCC80"/>
            </a:solidFill>
            <a:prstDash val="solid"/>
          </a:ln>
        </p:spPr>
      </p:sp>
      <p:pic>
        <p:nvPicPr>
          <p:cNvPr id="5" name="Image 0" descr="illust/donguri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8992" y="1161288"/>
            <a:ext cx="731520" cy="7315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02920" y="1920240"/>
            <a:ext cx="1874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D4037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どんぐり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2587752" y="1051560"/>
            <a:ext cx="1874520" cy="1417320"/>
          </a:xfrm>
          <a:prstGeom prst="roundRect">
            <a:avLst>
              <a:gd name="adj" fmla="val 9032"/>
            </a:avLst>
          </a:prstGeom>
          <a:solidFill>
            <a:srgbClr val="FFFFFF"/>
          </a:solidFill>
          <a:ln w="25400">
            <a:solidFill>
              <a:srgbClr val="FFCC80"/>
            </a:solidFill>
            <a:prstDash val="solid"/>
          </a:ln>
        </p:spPr>
      </p:sp>
      <p:pic>
        <p:nvPicPr>
          <p:cNvPr id="8" name="Image 1" descr="illust/matsubokkuri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63824" y="1161288"/>
            <a:ext cx="731520" cy="73152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2587752" y="1920240"/>
            <a:ext cx="1874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D4037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まつぼっくり</a:t>
            </a:r>
            <a:endParaRPr lang="en-US" sz="1400" dirty="0"/>
          </a:p>
        </p:txBody>
      </p:sp>
      <p:sp>
        <p:nvSpPr>
          <p:cNvPr id="10" name="Shape 6"/>
          <p:cNvSpPr/>
          <p:nvPr/>
        </p:nvSpPr>
        <p:spPr>
          <a:xfrm>
            <a:off x="4672584" y="1051560"/>
            <a:ext cx="1874520" cy="1417320"/>
          </a:xfrm>
          <a:prstGeom prst="roundRect">
            <a:avLst>
              <a:gd name="adj" fmla="val 9032"/>
            </a:avLst>
          </a:prstGeom>
          <a:solidFill>
            <a:srgbClr val="FFFFFF"/>
          </a:solidFill>
          <a:ln w="25400">
            <a:solidFill>
              <a:srgbClr val="FFCC80"/>
            </a:solidFill>
            <a:prstDash val="solid"/>
          </a:ln>
        </p:spPr>
      </p:sp>
      <p:pic>
        <p:nvPicPr>
          <p:cNvPr id="11" name="Image 2" descr="illust/ochiba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48656" y="1161288"/>
            <a:ext cx="731520" cy="731520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4672584" y="1920240"/>
            <a:ext cx="1874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D4037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おちば</a:t>
            </a:r>
            <a:endParaRPr lang="en-US" sz="1400" dirty="0"/>
          </a:p>
        </p:txBody>
      </p:sp>
      <p:sp>
        <p:nvSpPr>
          <p:cNvPr id="13" name="Shape 8"/>
          <p:cNvSpPr/>
          <p:nvPr/>
        </p:nvSpPr>
        <p:spPr>
          <a:xfrm>
            <a:off x="6757416" y="1051560"/>
            <a:ext cx="1874520" cy="1417320"/>
          </a:xfrm>
          <a:prstGeom prst="roundRect">
            <a:avLst>
              <a:gd name="adj" fmla="val 9032"/>
            </a:avLst>
          </a:prstGeom>
          <a:solidFill>
            <a:srgbClr val="FFFFFF"/>
          </a:solidFill>
          <a:ln w="25400">
            <a:solidFill>
              <a:srgbClr val="FFCC80"/>
            </a:solidFill>
            <a:prstDash val="solid"/>
          </a:ln>
        </p:spPr>
      </p:sp>
      <p:pic>
        <p:nvPicPr>
          <p:cNvPr id="14" name="Image 3" descr="illust/momiji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33488" y="1161288"/>
            <a:ext cx="731520" cy="731520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6757416" y="1920240"/>
            <a:ext cx="1874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D4037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もみじ</a:t>
            </a:r>
            <a:endParaRPr lang="en-US" sz="1400" dirty="0"/>
          </a:p>
        </p:txBody>
      </p:sp>
      <p:sp>
        <p:nvSpPr>
          <p:cNvPr id="16" name="Shape 10"/>
          <p:cNvSpPr/>
          <p:nvPr/>
        </p:nvSpPr>
        <p:spPr>
          <a:xfrm>
            <a:off x="502920" y="2624328"/>
            <a:ext cx="1874520" cy="1417320"/>
          </a:xfrm>
          <a:prstGeom prst="roundRect">
            <a:avLst>
              <a:gd name="adj" fmla="val 9032"/>
            </a:avLst>
          </a:prstGeom>
          <a:solidFill>
            <a:srgbClr val="FFFFFF"/>
          </a:solidFill>
          <a:ln w="25400">
            <a:solidFill>
              <a:srgbClr val="FFCC80"/>
            </a:solidFill>
            <a:prstDash val="solid"/>
          </a:ln>
        </p:spPr>
      </p:sp>
      <p:pic>
        <p:nvPicPr>
          <p:cNvPr id="17" name="Image 4" descr="illust/ityou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78992" y="2734056"/>
            <a:ext cx="731520" cy="731520"/>
          </a:xfrm>
          <a:prstGeom prst="rect">
            <a:avLst/>
          </a:prstGeom>
        </p:spPr>
      </p:pic>
      <p:sp>
        <p:nvSpPr>
          <p:cNvPr id="18" name="Text 11"/>
          <p:cNvSpPr/>
          <p:nvPr/>
        </p:nvSpPr>
        <p:spPr>
          <a:xfrm>
            <a:off x="502920" y="3493008"/>
            <a:ext cx="1874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D4037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いちょう</a:t>
            </a:r>
            <a:endParaRPr lang="en-US" sz="1400" dirty="0"/>
          </a:p>
        </p:txBody>
      </p:sp>
      <p:sp>
        <p:nvSpPr>
          <p:cNvPr id="19" name="Shape 12"/>
          <p:cNvSpPr/>
          <p:nvPr/>
        </p:nvSpPr>
        <p:spPr>
          <a:xfrm>
            <a:off x="2587752" y="2624328"/>
            <a:ext cx="1874520" cy="1417320"/>
          </a:xfrm>
          <a:prstGeom prst="roundRect">
            <a:avLst>
              <a:gd name="adj" fmla="val 9032"/>
            </a:avLst>
          </a:prstGeom>
          <a:solidFill>
            <a:srgbClr val="FFFFFF"/>
          </a:solidFill>
          <a:ln w="25400">
            <a:solidFill>
              <a:srgbClr val="FFCC80"/>
            </a:solidFill>
            <a:prstDash val="solid"/>
          </a:ln>
        </p:spPr>
      </p:sp>
      <p:pic>
        <p:nvPicPr>
          <p:cNvPr id="20" name="Image 5" descr="illust/kuri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163824" y="2734056"/>
            <a:ext cx="731520" cy="731520"/>
          </a:xfrm>
          <a:prstGeom prst="rect">
            <a:avLst/>
          </a:prstGeom>
        </p:spPr>
      </p:pic>
      <p:sp>
        <p:nvSpPr>
          <p:cNvPr id="21" name="Text 13"/>
          <p:cNvSpPr/>
          <p:nvPr/>
        </p:nvSpPr>
        <p:spPr>
          <a:xfrm>
            <a:off x="2587752" y="3493008"/>
            <a:ext cx="1874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D4037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くり</a:t>
            </a:r>
            <a:endParaRPr lang="en-US" sz="1400" dirty="0"/>
          </a:p>
        </p:txBody>
      </p:sp>
      <p:sp>
        <p:nvSpPr>
          <p:cNvPr id="22" name="Shape 14"/>
          <p:cNvSpPr/>
          <p:nvPr/>
        </p:nvSpPr>
        <p:spPr>
          <a:xfrm>
            <a:off x="4672584" y="2624328"/>
            <a:ext cx="1874520" cy="1417320"/>
          </a:xfrm>
          <a:prstGeom prst="roundRect">
            <a:avLst>
              <a:gd name="adj" fmla="val 9032"/>
            </a:avLst>
          </a:prstGeom>
          <a:solidFill>
            <a:srgbClr val="FFFFFF"/>
          </a:solidFill>
          <a:ln w="25400">
            <a:solidFill>
              <a:srgbClr val="FFCC80"/>
            </a:solidFill>
            <a:prstDash val="solid"/>
          </a:ln>
        </p:spPr>
      </p:sp>
      <p:pic>
        <p:nvPicPr>
          <p:cNvPr id="23" name="Image 6" descr="illust/kinomi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248656" y="2734056"/>
            <a:ext cx="731520" cy="731520"/>
          </a:xfrm>
          <a:prstGeom prst="rect">
            <a:avLst/>
          </a:prstGeom>
        </p:spPr>
      </p:pic>
      <p:sp>
        <p:nvSpPr>
          <p:cNvPr id="24" name="Text 15"/>
          <p:cNvSpPr/>
          <p:nvPr/>
        </p:nvSpPr>
        <p:spPr>
          <a:xfrm>
            <a:off x="4672584" y="3493008"/>
            <a:ext cx="1874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D4037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きのみ</a:t>
            </a:r>
            <a:endParaRPr lang="en-US" sz="1400" dirty="0"/>
          </a:p>
        </p:txBody>
      </p:sp>
      <p:sp>
        <p:nvSpPr>
          <p:cNvPr id="25" name="Shape 16"/>
          <p:cNvSpPr/>
          <p:nvPr/>
        </p:nvSpPr>
        <p:spPr>
          <a:xfrm>
            <a:off x="6757416" y="2624328"/>
            <a:ext cx="1874520" cy="1417320"/>
          </a:xfrm>
          <a:prstGeom prst="roundRect">
            <a:avLst>
              <a:gd name="adj" fmla="val 9032"/>
            </a:avLst>
          </a:prstGeom>
          <a:solidFill>
            <a:srgbClr val="FFFFFF"/>
          </a:solidFill>
          <a:ln w="25400">
            <a:solidFill>
              <a:srgbClr val="FFCC80"/>
            </a:solidFill>
            <a:prstDash val="solid"/>
          </a:ln>
        </p:spPr>
      </p:sp>
      <p:pic>
        <p:nvPicPr>
          <p:cNvPr id="26" name="Image 7" descr="illust/tree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333488" y="2734056"/>
            <a:ext cx="731520" cy="731520"/>
          </a:xfrm>
          <a:prstGeom prst="rect">
            <a:avLst/>
          </a:prstGeom>
        </p:spPr>
      </p:pic>
      <p:sp>
        <p:nvSpPr>
          <p:cNvPr id="27" name="Text 17"/>
          <p:cNvSpPr/>
          <p:nvPr/>
        </p:nvSpPr>
        <p:spPr>
          <a:xfrm>
            <a:off x="6757416" y="3493008"/>
            <a:ext cx="1874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D4037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き の えだ</a:t>
            </a:r>
            <a:endParaRPr lang="en-US" sz="1400" dirty="0"/>
          </a:p>
        </p:txBody>
      </p:sp>
      <p:sp>
        <p:nvSpPr>
          <p:cNvPr id="28" name="Text 18"/>
          <p:cNvSpPr/>
          <p:nvPr/>
        </p:nvSpPr>
        <p:spPr>
          <a:xfrm>
            <a:off x="457200" y="4576572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D6E63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つかって いない ものは、えらんで けそう（けす ボタン）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6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47472" y="201168"/>
            <a:ext cx="8449056" cy="658368"/>
          </a:xfrm>
          <a:prstGeom prst="roundRect">
            <a:avLst>
              <a:gd name="adj" fmla="val 22222"/>
            </a:avLst>
          </a:prstGeom>
          <a:solidFill>
            <a:srgbClr val="2196F3"/>
          </a:solidFill>
          <a:ln w="12700">
            <a:solidFill>
              <a:srgbClr val="2196F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47472" y="201168"/>
            <a:ext cx="844905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どんな おもちゃ？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1024128"/>
            <a:ext cx="3931920" cy="2880360"/>
          </a:xfrm>
          <a:prstGeom prst="roundRect">
            <a:avLst>
              <a:gd name="adj" fmla="val 4444"/>
            </a:avLst>
          </a:prstGeom>
          <a:solidFill>
            <a:srgbClr val="ECEFF1"/>
          </a:solidFill>
          <a:ln w="31750">
            <a:solidFill>
              <a:srgbClr val="90A4AE"/>
            </a:solidFill>
            <a:prstDash val="dash"/>
          </a:ln>
        </p:spPr>
      </p:sp>
      <p:sp>
        <p:nvSpPr>
          <p:cNvPr id="5" name="Text 3"/>
          <p:cNvSpPr/>
          <p:nvPr/>
        </p:nvSpPr>
        <p:spPr>
          <a:xfrm>
            <a:off x="502920" y="1024128"/>
            <a:ext cx="3931920" cy="2880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607D8B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しゃしんを</a:t>
            </a:r>
            <a:endParaRPr lang="en-US" sz="15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607D8B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ここに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709160" y="1024128"/>
            <a:ext cx="3931920" cy="128016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31750">
            <a:solidFill>
              <a:srgbClr val="FFB74D"/>
            </a:solidFill>
            <a:prstDash val="dash"/>
          </a:ln>
        </p:spPr>
      </p:sp>
      <p:sp>
        <p:nvSpPr>
          <p:cNvPr id="7" name="Text 5"/>
          <p:cNvSpPr/>
          <p:nvPr/>
        </p:nvSpPr>
        <p:spPr>
          <a:xfrm>
            <a:off x="4818888" y="1024128"/>
            <a:ext cx="371246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9E9E9E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これは</a:t>
            </a:r>
            <a:endParaRPr lang="en-US" sz="1900" dirty="0"/>
          </a:p>
          <a:p>
            <a:pPr algn="ctr" indent="0" marL="0">
              <a:buNone/>
            </a:pPr>
            <a:r>
              <a:rPr lang="en-US" sz="1900" dirty="0">
                <a:solidFill>
                  <a:srgbClr val="9E9E9E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（　　　　　　）です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4709160" y="2487168"/>
            <a:ext cx="393192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31750">
            <a:solidFill>
              <a:srgbClr val="FFB74D"/>
            </a:solidFill>
            <a:prstDash val="dash"/>
          </a:ln>
        </p:spPr>
      </p:sp>
      <p:sp>
        <p:nvSpPr>
          <p:cNvPr id="9" name="Text 7"/>
          <p:cNvSpPr/>
          <p:nvPr/>
        </p:nvSpPr>
        <p:spPr>
          <a:xfrm>
            <a:off x="4818888" y="2487168"/>
            <a:ext cx="3712464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9E9E9E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（　　　　　　）で</a:t>
            </a:r>
            <a:endParaRPr lang="en-US" sz="1900" dirty="0"/>
          </a:p>
          <a:p>
            <a:pPr algn="ctr" indent="0" marL="0">
              <a:buNone/>
            </a:pPr>
            <a:r>
              <a:rPr lang="en-US" sz="1900" dirty="0">
                <a:solidFill>
                  <a:srgbClr val="9E9E9E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つくりました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347472" y="4210812"/>
            <a:ext cx="8449056" cy="786384"/>
          </a:xfrm>
          <a:prstGeom prst="roundRect">
            <a:avLst>
              <a:gd name="adj" fmla="val 16279"/>
            </a:avLst>
          </a:prstGeom>
          <a:solidFill>
            <a:srgbClr val="FFE9C7"/>
          </a:solidFill>
          <a:ln w="12700">
            <a:solidFill>
              <a:srgbClr val="FFE9C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4238244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D6E63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ことばカード … つかう ことばを、上の（　）の ところへ ドラッグしよう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4503420"/>
            <a:ext cx="1313688" cy="420624"/>
          </a:xfrm>
          <a:prstGeom prst="roundRect">
            <a:avLst>
              <a:gd name="adj" fmla="val 43478"/>
            </a:avLst>
          </a:prstGeom>
          <a:solidFill>
            <a:srgbClr val="FFFFFF"/>
          </a:solidFill>
          <a:ln w="25400">
            <a:solidFill>
              <a:srgbClr val="FFCC8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84632" y="4503420"/>
            <a:ext cx="12588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D4C41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こま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1844040" y="4503420"/>
            <a:ext cx="1313688" cy="420624"/>
          </a:xfrm>
          <a:prstGeom prst="roundRect">
            <a:avLst>
              <a:gd name="adj" fmla="val 43478"/>
            </a:avLst>
          </a:prstGeom>
          <a:solidFill>
            <a:srgbClr val="FFFFFF"/>
          </a:solidFill>
          <a:ln w="25400">
            <a:solidFill>
              <a:srgbClr val="FFCC8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871472" y="4503420"/>
            <a:ext cx="12588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D4C41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けんだま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3230880" y="4503420"/>
            <a:ext cx="1313688" cy="420624"/>
          </a:xfrm>
          <a:prstGeom prst="roundRect">
            <a:avLst>
              <a:gd name="adj" fmla="val 43478"/>
            </a:avLst>
          </a:prstGeom>
          <a:solidFill>
            <a:srgbClr val="FFFFFF"/>
          </a:solidFill>
          <a:ln w="25400">
            <a:solidFill>
              <a:srgbClr val="FFCC8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258312" y="4503420"/>
            <a:ext cx="12588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D4C41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やじろべえ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617720" y="4503420"/>
            <a:ext cx="1313688" cy="420624"/>
          </a:xfrm>
          <a:prstGeom prst="roundRect">
            <a:avLst>
              <a:gd name="adj" fmla="val 43478"/>
            </a:avLst>
          </a:prstGeom>
          <a:solidFill>
            <a:srgbClr val="FFFFFF"/>
          </a:solidFill>
          <a:ln w="25400">
            <a:solidFill>
              <a:srgbClr val="FFCC8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645152" y="4503420"/>
            <a:ext cx="12588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D4C41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マラカス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004560" y="4503420"/>
            <a:ext cx="1313688" cy="420624"/>
          </a:xfrm>
          <a:prstGeom prst="roundRect">
            <a:avLst>
              <a:gd name="adj" fmla="val 43478"/>
            </a:avLst>
          </a:prstGeom>
          <a:solidFill>
            <a:srgbClr val="FFFFFF"/>
          </a:solidFill>
          <a:ln w="25400">
            <a:solidFill>
              <a:srgbClr val="FFCC8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031992" y="4503420"/>
            <a:ext cx="12588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D4C41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めいろ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7391400" y="4503420"/>
            <a:ext cx="1313688" cy="420624"/>
          </a:xfrm>
          <a:prstGeom prst="roundRect">
            <a:avLst>
              <a:gd name="adj" fmla="val 43478"/>
            </a:avLst>
          </a:prstGeom>
          <a:solidFill>
            <a:srgbClr val="FFFFFF"/>
          </a:solidFill>
          <a:ln w="25400">
            <a:solidFill>
              <a:srgbClr val="FFCC8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418832" y="4503420"/>
            <a:ext cx="12588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D4C41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おめん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6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47472" y="201168"/>
            <a:ext cx="8449056" cy="658368"/>
          </a:xfrm>
          <a:prstGeom prst="roundRect">
            <a:avLst>
              <a:gd name="adj" fmla="val 22222"/>
            </a:avLst>
          </a:prstGeom>
          <a:solidFill>
            <a:srgbClr val="4CAF50"/>
          </a:solidFill>
          <a:ln w="12700">
            <a:solidFill>
              <a:srgbClr val="4CAF5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47472" y="201168"/>
            <a:ext cx="844905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つくりかた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1600200" y="960120"/>
            <a:ext cx="402336" cy="402336"/>
          </a:xfrm>
          <a:prstGeom prst="ellipse">
            <a:avLst/>
          </a:prstGeom>
          <a:solidFill>
            <a:srgbClr val="4CAF50"/>
          </a:solidFill>
          <a:ln w="12700">
            <a:solidFill>
              <a:srgbClr val="4CAF5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600200" y="9601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①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502920" y="1444752"/>
            <a:ext cx="2606040" cy="1508760"/>
          </a:xfrm>
          <a:prstGeom prst="roundRect">
            <a:avLst>
              <a:gd name="adj" fmla="val 8485"/>
            </a:avLst>
          </a:prstGeom>
          <a:solidFill>
            <a:srgbClr val="ECEFF1"/>
          </a:solidFill>
          <a:ln w="31750">
            <a:solidFill>
              <a:srgbClr val="90A4AE"/>
            </a:solidFill>
            <a:prstDash val="dash"/>
          </a:ln>
        </p:spPr>
      </p:sp>
      <p:sp>
        <p:nvSpPr>
          <p:cNvPr id="7" name="Text 5"/>
          <p:cNvSpPr/>
          <p:nvPr/>
        </p:nvSpPr>
        <p:spPr>
          <a:xfrm>
            <a:off x="502920" y="1444752"/>
            <a:ext cx="260604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07D8B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しゃしんを</a:t>
            </a:r>
            <a:endParaRPr lang="en-US" sz="13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07D8B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ここに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02920" y="3035808"/>
            <a:ext cx="2606040" cy="749808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31750">
            <a:solidFill>
              <a:srgbClr val="FFB74D"/>
            </a:solidFill>
            <a:prstDash val="dash"/>
          </a:ln>
        </p:spPr>
      </p:sp>
      <p:sp>
        <p:nvSpPr>
          <p:cNvPr id="9" name="Text 7"/>
          <p:cNvSpPr/>
          <p:nvPr/>
        </p:nvSpPr>
        <p:spPr>
          <a:xfrm>
            <a:off x="612648" y="3035808"/>
            <a:ext cx="238658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9E9E9E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（　　　　　）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389120" y="960120"/>
            <a:ext cx="402336" cy="402336"/>
          </a:xfrm>
          <a:prstGeom prst="ellipse">
            <a:avLst/>
          </a:prstGeom>
          <a:solidFill>
            <a:srgbClr val="4CAF50"/>
          </a:solidFill>
          <a:ln w="12700">
            <a:solidFill>
              <a:srgbClr val="4CAF5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389120" y="9601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②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3291840" y="1444752"/>
            <a:ext cx="2606040" cy="1508760"/>
          </a:xfrm>
          <a:prstGeom prst="roundRect">
            <a:avLst>
              <a:gd name="adj" fmla="val 8485"/>
            </a:avLst>
          </a:prstGeom>
          <a:solidFill>
            <a:srgbClr val="ECEFF1"/>
          </a:solidFill>
          <a:ln w="31750">
            <a:solidFill>
              <a:srgbClr val="90A4AE"/>
            </a:solidFill>
            <a:prstDash val="dash"/>
          </a:ln>
        </p:spPr>
      </p:sp>
      <p:sp>
        <p:nvSpPr>
          <p:cNvPr id="13" name="Text 11"/>
          <p:cNvSpPr/>
          <p:nvPr/>
        </p:nvSpPr>
        <p:spPr>
          <a:xfrm>
            <a:off x="3291840" y="1444752"/>
            <a:ext cx="260604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07D8B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しゃしんを</a:t>
            </a:r>
            <a:endParaRPr lang="en-US" sz="13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07D8B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ここに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3291840" y="3035808"/>
            <a:ext cx="2606040" cy="749808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31750">
            <a:solidFill>
              <a:srgbClr val="FFB74D"/>
            </a:solidFill>
            <a:prstDash val="dash"/>
          </a:ln>
        </p:spPr>
      </p:sp>
      <p:sp>
        <p:nvSpPr>
          <p:cNvPr id="15" name="Text 13"/>
          <p:cNvSpPr/>
          <p:nvPr/>
        </p:nvSpPr>
        <p:spPr>
          <a:xfrm>
            <a:off x="3401568" y="3035808"/>
            <a:ext cx="238658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9E9E9E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（　　　　　）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7178040" y="960120"/>
            <a:ext cx="402336" cy="402336"/>
          </a:xfrm>
          <a:prstGeom prst="ellipse">
            <a:avLst/>
          </a:prstGeom>
          <a:solidFill>
            <a:srgbClr val="4CAF50"/>
          </a:solidFill>
          <a:ln w="12700">
            <a:solidFill>
              <a:srgbClr val="4CAF5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178040" y="9601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③</a:t>
            </a:r>
            <a:endParaRPr lang="en-US" sz="1700" dirty="0"/>
          </a:p>
        </p:txBody>
      </p:sp>
      <p:sp>
        <p:nvSpPr>
          <p:cNvPr id="18" name="Shape 16"/>
          <p:cNvSpPr/>
          <p:nvPr/>
        </p:nvSpPr>
        <p:spPr>
          <a:xfrm>
            <a:off x="6080760" y="1444752"/>
            <a:ext cx="2606040" cy="1508760"/>
          </a:xfrm>
          <a:prstGeom prst="roundRect">
            <a:avLst>
              <a:gd name="adj" fmla="val 8485"/>
            </a:avLst>
          </a:prstGeom>
          <a:solidFill>
            <a:srgbClr val="ECEFF1"/>
          </a:solidFill>
          <a:ln w="31750">
            <a:solidFill>
              <a:srgbClr val="90A4AE"/>
            </a:solidFill>
            <a:prstDash val="dash"/>
          </a:ln>
        </p:spPr>
      </p:sp>
      <p:sp>
        <p:nvSpPr>
          <p:cNvPr id="19" name="Text 17"/>
          <p:cNvSpPr/>
          <p:nvPr/>
        </p:nvSpPr>
        <p:spPr>
          <a:xfrm>
            <a:off x="6080760" y="1444752"/>
            <a:ext cx="260604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07D8B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しゃしんを</a:t>
            </a:r>
            <a:endParaRPr lang="en-US" sz="13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07D8B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ここに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080760" y="3035808"/>
            <a:ext cx="2606040" cy="749808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31750">
            <a:solidFill>
              <a:srgbClr val="FFB74D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6190488" y="3035808"/>
            <a:ext cx="238658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9E9E9E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（　　　　　）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347472" y="4210812"/>
            <a:ext cx="8449056" cy="786384"/>
          </a:xfrm>
          <a:prstGeom prst="roundRect">
            <a:avLst>
              <a:gd name="adj" fmla="val 16279"/>
            </a:avLst>
          </a:prstGeom>
          <a:solidFill>
            <a:srgbClr val="FFE9C7"/>
          </a:solidFill>
          <a:ln w="12700">
            <a:solidFill>
              <a:srgbClr val="FFE9C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57200" y="4238244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D6E63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ことばカード … つかう ことばを、上の（　）の ところへ ドラッグしよう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57200" y="4503420"/>
            <a:ext cx="1313688" cy="420624"/>
          </a:xfrm>
          <a:prstGeom prst="roundRect">
            <a:avLst>
              <a:gd name="adj" fmla="val 43478"/>
            </a:avLst>
          </a:prstGeom>
          <a:solidFill>
            <a:srgbClr val="FFFFFF"/>
          </a:solidFill>
          <a:ln w="25400">
            <a:solidFill>
              <a:srgbClr val="FFCC8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84632" y="4503420"/>
            <a:ext cx="12588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D4C41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あなを あける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1844040" y="4503420"/>
            <a:ext cx="1313688" cy="420624"/>
          </a:xfrm>
          <a:prstGeom prst="roundRect">
            <a:avLst>
              <a:gd name="adj" fmla="val 43478"/>
            </a:avLst>
          </a:prstGeom>
          <a:solidFill>
            <a:srgbClr val="FFFFFF"/>
          </a:solidFill>
          <a:ln w="25400">
            <a:solidFill>
              <a:srgbClr val="FFCC8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871472" y="4503420"/>
            <a:ext cx="12588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D4C41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ぼうを さす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3230880" y="4503420"/>
            <a:ext cx="1313688" cy="420624"/>
          </a:xfrm>
          <a:prstGeom prst="roundRect">
            <a:avLst>
              <a:gd name="adj" fmla="val 43478"/>
            </a:avLst>
          </a:prstGeom>
          <a:solidFill>
            <a:srgbClr val="FFFFFF"/>
          </a:solidFill>
          <a:ln w="25400">
            <a:solidFill>
              <a:srgbClr val="FFCC8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258312" y="4503420"/>
            <a:ext cx="12588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D4C41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のりで つける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4617720" y="4503420"/>
            <a:ext cx="1313688" cy="420624"/>
          </a:xfrm>
          <a:prstGeom prst="roundRect">
            <a:avLst>
              <a:gd name="adj" fmla="val 43478"/>
            </a:avLst>
          </a:prstGeom>
          <a:solidFill>
            <a:srgbClr val="FFFFFF"/>
          </a:solidFill>
          <a:ln w="25400">
            <a:solidFill>
              <a:srgbClr val="FFCC8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645152" y="4503420"/>
            <a:ext cx="12588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D4C41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テープで とめる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6004560" y="4503420"/>
            <a:ext cx="1313688" cy="420624"/>
          </a:xfrm>
          <a:prstGeom prst="roundRect">
            <a:avLst>
              <a:gd name="adj" fmla="val 43478"/>
            </a:avLst>
          </a:prstGeom>
          <a:solidFill>
            <a:srgbClr val="FFFFFF"/>
          </a:solidFill>
          <a:ln w="25400">
            <a:solidFill>
              <a:srgbClr val="FFCC8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031992" y="4503420"/>
            <a:ext cx="12588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D4C41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いろを ぬる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7391400" y="4503420"/>
            <a:ext cx="1313688" cy="420624"/>
          </a:xfrm>
          <a:prstGeom prst="roundRect">
            <a:avLst>
              <a:gd name="adj" fmla="val 43478"/>
            </a:avLst>
          </a:prstGeom>
          <a:solidFill>
            <a:srgbClr val="FFFFFF"/>
          </a:solidFill>
          <a:ln w="25400">
            <a:solidFill>
              <a:srgbClr val="FFCC8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418832" y="4503420"/>
            <a:ext cx="12588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D4C41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ひもを つける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6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47472" y="201168"/>
            <a:ext cx="8449056" cy="658368"/>
          </a:xfrm>
          <a:prstGeom prst="roundRect">
            <a:avLst>
              <a:gd name="adj" fmla="val 22222"/>
            </a:avLst>
          </a:prstGeom>
          <a:solidFill>
            <a:srgbClr val="E53935"/>
          </a:solidFill>
          <a:ln w="12700">
            <a:solidFill>
              <a:srgbClr val="E5393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47472" y="201168"/>
            <a:ext cx="844905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やって みたら… こまった!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1024128"/>
            <a:ext cx="3657600" cy="2880360"/>
          </a:xfrm>
          <a:prstGeom prst="roundRect">
            <a:avLst>
              <a:gd name="adj" fmla="val 4444"/>
            </a:avLst>
          </a:prstGeom>
          <a:solidFill>
            <a:srgbClr val="ECEFF1"/>
          </a:solidFill>
          <a:ln w="31750">
            <a:solidFill>
              <a:srgbClr val="90A4AE"/>
            </a:solidFill>
            <a:prstDash val="dash"/>
          </a:ln>
        </p:spPr>
      </p:sp>
      <p:sp>
        <p:nvSpPr>
          <p:cNvPr id="5" name="Text 3"/>
          <p:cNvSpPr/>
          <p:nvPr/>
        </p:nvSpPr>
        <p:spPr>
          <a:xfrm>
            <a:off x="502920" y="1024128"/>
            <a:ext cx="3657600" cy="2880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607D8B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しゃしんを</a:t>
            </a:r>
            <a:endParaRPr lang="en-US" sz="14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607D8B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ここに</a:t>
            </a:r>
            <a:endParaRPr lang="en-US" sz="1400" dirty="0"/>
          </a:p>
        </p:txBody>
      </p:sp>
      <p:pic>
        <p:nvPicPr>
          <p:cNvPr id="6" name="Image 0" descr="illust/komatt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343400" y="1051560"/>
            <a:ext cx="1234440" cy="12344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532120" y="1143000"/>
            <a:ext cx="310896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31750">
            <a:solidFill>
              <a:srgbClr val="EF9A9A"/>
            </a:solidFill>
            <a:prstDash val="dash"/>
          </a:ln>
        </p:spPr>
      </p:sp>
      <p:sp>
        <p:nvSpPr>
          <p:cNvPr id="8" name="Text 5"/>
          <p:cNvSpPr/>
          <p:nvPr/>
        </p:nvSpPr>
        <p:spPr>
          <a:xfrm>
            <a:off x="5641848" y="1143000"/>
            <a:ext cx="288950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9E9E9E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（　　　　　　）</a:t>
            </a:r>
            <a:endParaRPr lang="en-US" sz="1700" dirty="0"/>
          </a:p>
          <a:p>
            <a:pPr algn="ctr" indent="0" marL="0">
              <a:buNone/>
            </a:pPr>
            <a:r>
              <a:rPr lang="en-US" sz="1700" dirty="0">
                <a:solidFill>
                  <a:srgbClr val="9E9E9E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ので こまった</a:t>
            </a:r>
            <a:endParaRPr lang="en-US" sz="1700" dirty="0"/>
          </a:p>
        </p:txBody>
      </p:sp>
      <p:sp>
        <p:nvSpPr>
          <p:cNvPr id="9" name="Shape 6"/>
          <p:cNvSpPr/>
          <p:nvPr/>
        </p:nvSpPr>
        <p:spPr>
          <a:xfrm>
            <a:off x="4343400" y="2514600"/>
            <a:ext cx="429768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31750">
            <a:solidFill>
              <a:srgbClr val="EF9A9A"/>
            </a:solidFill>
            <a:prstDash val="dash"/>
          </a:ln>
        </p:spPr>
      </p:sp>
      <p:sp>
        <p:nvSpPr>
          <p:cNvPr id="10" name="Text 7"/>
          <p:cNvSpPr/>
          <p:nvPr/>
        </p:nvSpPr>
        <p:spPr>
          <a:xfrm>
            <a:off x="4453128" y="2514600"/>
            <a:ext cx="407822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9E9E9E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なんかいも やって みたけど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9E9E9E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うまく いかなかった…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347472" y="4210812"/>
            <a:ext cx="8449056" cy="786384"/>
          </a:xfrm>
          <a:prstGeom prst="roundRect">
            <a:avLst>
              <a:gd name="adj" fmla="val 16279"/>
            </a:avLst>
          </a:prstGeom>
          <a:solidFill>
            <a:srgbClr val="FFE9C7"/>
          </a:solidFill>
          <a:ln w="12700">
            <a:solidFill>
              <a:srgbClr val="FFE9C7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7200" y="4238244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D6E63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ことばカード … つかう ことばを、上の（　）の ところへ ドラッグしよう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57200" y="4503420"/>
            <a:ext cx="1313688" cy="420624"/>
          </a:xfrm>
          <a:prstGeom prst="roundRect">
            <a:avLst>
              <a:gd name="adj" fmla="val 43478"/>
            </a:avLst>
          </a:prstGeom>
          <a:solidFill>
            <a:srgbClr val="FFFFFF"/>
          </a:solidFill>
          <a:ln w="25400">
            <a:solidFill>
              <a:srgbClr val="FFCC8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484632" y="4503420"/>
            <a:ext cx="12588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D4C41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まわらない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1844040" y="4503420"/>
            <a:ext cx="1313688" cy="420624"/>
          </a:xfrm>
          <a:prstGeom prst="roundRect">
            <a:avLst>
              <a:gd name="adj" fmla="val 43478"/>
            </a:avLst>
          </a:prstGeom>
          <a:solidFill>
            <a:srgbClr val="FFFFFF"/>
          </a:solidFill>
          <a:ln w="25400">
            <a:solidFill>
              <a:srgbClr val="FFCC80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1871472" y="4503420"/>
            <a:ext cx="12588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D4C41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すぐ たおれる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3230880" y="4503420"/>
            <a:ext cx="1313688" cy="420624"/>
          </a:xfrm>
          <a:prstGeom prst="roundRect">
            <a:avLst>
              <a:gd name="adj" fmla="val 43478"/>
            </a:avLst>
          </a:prstGeom>
          <a:solidFill>
            <a:srgbClr val="FFFFFF"/>
          </a:solidFill>
          <a:ln w="25400">
            <a:solidFill>
              <a:srgbClr val="FFCC80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3258312" y="4503420"/>
            <a:ext cx="12588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D4C41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とれちゃう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4617720" y="4503420"/>
            <a:ext cx="1313688" cy="420624"/>
          </a:xfrm>
          <a:prstGeom prst="roundRect">
            <a:avLst>
              <a:gd name="adj" fmla="val 43478"/>
            </a:avLst>
          </a:prstGeom>
          <a:solidFill>
            <a:srgbClr val="FFFFFF"/>
          </a:solidFill>
          <a:ln w="25400">
            <a:solidFill>
              <a:srgbClr val="FFCC80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4645152" y="4503420"/>
            <a:ext cx="12588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D4C41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おもすぎる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6004560" y="4503420"/>
            <a:ext cx="1313688" cy="420624"/>
          </a:xfrm>
          <a:prstGeom prst="roundRect">
            <a:avLst>
              <a:gd name="adj" fmla="val 43478"/>
            </a:avLst>
          </a:prstGeom>
          <a:solidFill>
            <a:srgbClr val="FFFFFF"/>
          </a:solidFill>
          <a:ln w="25400">
            <a:solidFill>
              <a:srgbClr val="FFCC80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6031992" y="4503420"/>
            <a:ext cx="12588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D4C41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ひもが みじかい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7391400" y="4503420"/>
            <a:ext cx="1313688" cy="420624"/>
          </a:xfrm>
          <a:prstGeom prst="roundRect">
            <a:avLst>
              <a:gd name="adj" fmla="val 43478"/>
            </a:avLst>
          </a:prstGeom>
          <a:solidFill>
            <a:srgbClr val="FFFFFF"/>
          </a:solidFill>
          <a:ln w="25400">
            <a:solidFill>
              <a:srgbClr val="FFCC80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7418832" y="4503420"/>
            <a:ext cx="12588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D4C41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あなが ずれた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6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47472" y="201168"/>
            <a:ext cx="8449056" cy="658368"/>
          </a:xfrm>
          <a:prstGeom prst="roundRect">
            <a:avLst>
              <a:gd name="adj" fmla="val 22222"/>
            </a:avLst>
          </a:prstGeom>
          <a:solidFill>
            <a:srgbClr val="7E57C2"/>
          </a:solidFill>
          <a:ln w="12700">
            <a:solidFill>
              <a:srgbClr val="7E57C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47472" y="201168"/>
            <a:ext cx="844905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どうしたら いいかな?</a:t>
            </a:r>
            <a:endParaRPr lang="en-US" sz="2600" dirty="0"/>
          </a:p>
        </p:txBody>
      </p:sp>
      <p:pic>
        <p:nvPicPr>
          <p:cNvPr id="4" name="Image 0" descr="illust/kangaeru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194560"/>
            <a:ext cx="1691640" cy="169164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2468880" y="1024128"/>
            <a:ext cx="3017520" cy="1234440"/>
          </a:xfrm>
          <a:prstGeom prst="roundRect">
            <a:avLst>
              <a:gd name="adj" fmla="val 16296"/>
            </a:avLst>
          </a:prstGeom>
          <a:solidFill>
            <a:srgbClr val="FFFFFF"/>
          </a:solidFill>
          <a:ln w="31750">
            <a:solidFill>
              <a:srgbClr val="B39DDB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2606040" y="1024128"/>
            <a:ext cx="27432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9E9E9E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もしかして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9E9E9E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（　　　　　）かな?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5623560" y="1024128"/>
            <a:ext cx="3017520" cy="1234440"/>
          </a:xfrm>
          <a:prstGeom prst="roundRect">
            <a:avLst>
              <a:gd name="adj" fmla="val 16296"/>
            </a:avLst>
          </a:prstGeom>
          <a:solidFill>
            <a:srgbClr val="FFFFFF"/>
          </a:solidFill>
          <a:ln w="31750">
            <a:solidFill>
              <a:srgbClr val="B39DDB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5760720" y="1024128"/>
            <a:ext cx="27432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9E9E9E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（　　　　　）を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9E9E9E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かえて みようかな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2468880" y="2423160"/>
            <a:ext cx="6172200" cy="1417320"/>
          </a:xfrm>
          <a:prstGeom prst="roundRect">
            <a:avLst>
              <a:gd name="adj" fmla="val 14194"/>
            </a:avLst>
          </a:prstGeom>
          <a:solidFill>
            <a:srgbClr val="FFFFFF"/>
          </a:solidFill>
          <a:ln w="31750">
            <a:solidFill>
              <a:srgbClr val="B39DD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2606040" y="2423160"/>
            <a:ext cx="58978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9E9E9E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ともだちが（　　　　　　　　）と おしえて くれた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347472" y="4210812"/>
            <a:ext cx="8449056" cy="786384"/>
          </a:xfrm>
          <a:prstGeom prst="roundRect">
            <a:avLst>
              <a:gd name="adj" fmla="val 16279"/>
            </a:avLst>
          </a:prstGeom>
          <a:solidFill>
            <a:srgbClr val="FFE9C7"/>
          </a:solidFill>
          <a:ln w="12700">
            <a:solidFill>
              <a:srgbClr val="FFE9C7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7200" y="4238244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D6E63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ことばカード … つかう ことばを、上の（　）の ところへ ドラッグしよう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57200" y="4503420"/>
            <a:ext cx="1313688" cy="420624"/>
          </a:xfrm>
          <a:prstGeom prst="roundRect">
            <a:avLst>
              <a:gd name="adj" fmla="val 43478"/>
            </a:avLst>
          </a:prstGeom>
          <a:solidFill>
            <a:srgbClr val="FFFFFF"/>
          </a:solidFill>
          <a:ln w="25400">
            <a:solidFill>
              <a:srgbClr val="FFCC8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484632" y="4503420"/>
            <a:ext cx="12588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D4C41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ぼうの ながさ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1844040" y="4503420"/>
            <a:ext cx="1313688" cy="420624"/>
          </a:xfrm>
          <a:prstGeom prst="roundRect">
            <a:avLst>
              <a:gd name="adj" fmla="val 43478"/>
            </a:avLst>
          </a:prstGeom>
          <a:solidFill>
            <a:srgbClr val="FFFFFF"/>
          </a:solidFill>
          <a:ln w="25400">
            <a:solidFill>
              <a:srgbClr val="FFCC80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1871472" y="4503420"/>
            <a:ext cx="12588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D4C41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あなの ばしょ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3230880" y="4503420"/>
            <a:ext cx="1313688" cy="420624"/>
          </a:xfrm>
          <a:prstGeom prst="roundRect">
            <a:avLst>
              <a:gd name="adj" fmla="val 43478"/>
            </a:avLst>
          </a:prstGeom>
          <a:solidFill>
            <a:srgbClr val="FFFFFF"/>
          </a:solidFill>
          <a:ln w="25400">
            <a:solidFill>
              <a:srgbClr val="FFCC80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3258312" y="4503420"/>
            <a:ext cx="12588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D4C41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おもさ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4617720" y="4503420"/>
            <a:ext cx="1313688" cy="420624"/>
          </a:xfrm>
          <a:prstGeom prst="roundRect">
            <a:avLst>
              <a:gd name="adj" fmla="val 43478"/>
            </a:avLst>
          </a:prstGeom>
          <a:solidFill>
            <a:srgbClr val="FFFFFF"/>
          </a:solidFill>
          <a:ln w="25400">
            <a:solidFill>
              <a:srgbClr val="FFCC80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4645152" y="4503420"/>
            <a:ext cx="12588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D4C41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ざいりょう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6004560" y="4503420"/>
            <a:ext cx="1313688" cy="420624"/>
          </a:xfrm>
          <a:prstGeom prst="roundRect">
            <a:avLst>
              <a:gd name="adj" fmla="val 43478"/>
            </a:avLst>
          </a:prstGeom>
          <a:solidFill>
            <a:srgbClr val="FFFFFF"/>
          </a:solidFill>
          <a:ln w="25400">
            <a:solidFill>
              <a:srgbClr val="FFCC80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6031992" y="4503420"/>
            <a:ext cx="12588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D4C41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むすびかた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7391400" y="4503420"/>
            <a:ext cx="1313688" cy="420624"/>
          </a:xfrm>
          <a:prstGeom prst="roundRect">
            <a:avLst>
              <a:gd name="adj" fmla="val 43478"/>
            </a:avLst>
          </a:prstGeom>
          <a:solidFill>
            <a:srgbClr val="FFFFFF"/>
          </a:solidFill>
          <a:ln w="25400">
            <a:solidFill>
              <a:srgbClr val="FFCC80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7418832" y="4503420"/>
            <a:ext cx="12588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D4C41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かたち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6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47472" y="201168"/>
            <a:ext cx="8449056" cy="658368"/>
          </a:xfrm>
          <a:prstGeom prst="roundRect">
            <a:avLst>
              <a:gd name="adj" fmla="val 22222"/>
            </a:avLst>
          </a:prstGeom>
          <a:solidFill>
            <a:srgbClr val="4CAF50"/>
          </a:solidFill>
          <a:ln w="12700">
            <a:solidFill>
              <a:srgbClr val="4CAF5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47472" y="201168"/>
            <a:ext cx="844905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こうして みたら… できた!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8D6E63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まえ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325880"/>
            <a:ext cx="3200400" cy="2011680"/>
          </a:xfrm>
          <a:prstGeom prst="roundRect">
            <a:avLst>
              <a:gd name="adj" fmla="val 6364"/>
            </a:avLst>
          </a:prstGeom>
          <a:solidFill>
            <a:srgbClr val="ECEFF1"/>
          </a:solidFill>
          <a:ln w="31750">
            <a:solidFill>
              <a:srgbClr val="90A4AE"/>
            </a:solidFill>
            <a:prstDash val="dash"/>
          </a:ln>
        </p:spPr>
      </p:sp>
      <p:sp>
        <p:nvSpPr>
          <p:cNvPr id="6" name="Text 4"/>
          <p:cNvSpPr/>
          <p:nvPr/>
        </p:nvSpPr>
        <p:spPr>
          <a:xfrm>
            <a:off x="548640" y="1325880"/>
            <a:ext cx="32004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07D8B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しゃしんを</a:t>
            </a:r>
            <a:endParaRPr lang="en-US" sz="13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07D8B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ここに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913632" y="2011680"/>
            <a:ext cx="1005840" cy="685800"/>
          </a:xfrm>
          <a:prstGeom prst="rightArrow">
            <a:avLst/>
          </a:prstGeom>
          <a:solidFill>
            <a:srgbClr val="FF9800"/>
          </a:solidFill>
          <a:ln w="12700">
            <a:solidFill>
              <a:srgbClr val="FF98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74920" y="96012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8D6E63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あと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74920" y="1325880"/>
            <a:ext cx="3200400" cy="2011680"/>
          </a:xfrm>
          <a:prstGeom prst="roundRect">
            <a:avLst>
              <a:gd name="adj" fmla="val 6364"/>
            </a:avLst>
          </a:prstGeom>
          <a:solidFill>
            <a:srgbClr val="ECEFF1"/>
          </a:solidFill>
          <a:ln w="31750">
            <a:solidFill>
              <a:srgbClr val="90A4AE"/>
            </a:solidFill>
            <a:prstDash val="dash"/>
          </a:ln>
        </p:spPr>
      </p:sp>
      <p:sp>
        <p:nvSpPr>
          <p:cNvPr id="10" name="Text 8"/>
          <p:cNvSpPr/>
          <p:nvPr/>
        </p:nvSpPr>
        <p:spPr>
          <a:xfrm>
            <a:off x="5074920" y="1325880"/>
            <a:ext cx="32004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07D8B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しゃしんを</a:t>
            </a:r>
            <a:endParaRPr lang="en-US" sz="13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07D8B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ここに</a:t>
            </a:r>
            <a:endParaRPr lang="en-US" sz="1300" dirty="0"/>
          </a:p>
        </p:txBody>
      </p:sp>
      <p:pic>
        <p:nvPicPr>
          <p:cNvPr id="11" name="Image 0" descr="illust/dekit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1000" y="3063240"/>
            <a:ext cx="1005840" cy="1005840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548640" y="3456432"/>
            <a:ext cx="7315200" cy="6858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31750">
            <a:solidFill>
              <a:srgbClr val="A5D6A7"/>
            </a:solidFill>
            <a:prstDash val="dash"/>
          </a:ln>
        </p:spPr>
      </p:sp>
      <p:sp>
        <p:nvSpPr>
          <p:cNvPr id="13" name="Text 10"/>
          <p:cNvSpPr/>
          <p:nvPr/>
        </p:nvSpPr>
        <p:spPr>
          <a:xfrm>
            <a:off x="658368" y="3456432"/>
            <a:ext cx="70957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9E9E9E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（　　　　　　　）を かえたら、うまく いった!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347472" y="4210812"/>
            <a:ext cx="8449056" cy="786384"/>
          </a:xfrm>
          <a:prstGeom prst="roundRect">
            <a:avLst>
              <a:gd name="adj" fmla="val 16279"/>
            </a:avLst>
          </a:prstGeom>
          <a:solidFill>
            <a:srgbClr val="FFE9C7"/>
          </a:solidFill>
          <a:ln w="12700">
            <a:solidFill>
              <a:srgbClr val="FFE9C7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457200" y="4238244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D6E63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ことばカード … つかう ことばを、上の（　）の ところへ ドラッグしよう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457200" y="4503420"/>
            <a:ext cx="1313688" cy="420624"/>
          </a:xfrm>
          <a:prstGeom prst="roundRect">
            <a:avLst>
              <a:gd name="adj" fmla="val 43478"/>
            </a:avLst>
          </a:prstGeom>
          <a:solidFill>
            <a:srgbClr val="FFFFFF"/>
          </a:solidFill>
          <a:ln w="25400">
            <a:solidFill>
              <a:srgbClr val="FFCC8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484632" y="4503420"/>
            <a:ext cx="12588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D4C41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ながさ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1844040" y="4503420"/>
            <a:ext cx="1313688" cy="420624"/>
          </a:xfrm>
          <a:prstGeom prst="roundRect">
            <a:avLst>
              <a:gd name="adj" fmla="val 43478"/>
            </a:avLst>
          </a:prstGeom>
          <a:solidFill>
            <a:srgbClr val="FFFFFF"/>
          </a:solidFill>
          <a:ln w="25400">
            <a:solidFill>
              <a:srgbClr val="FFCC80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1871472" y="4503420"/>
            <a:ext cx="12588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D4C41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おもさ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3230880" y="4503420"/>
            <a:ext cx="1313688" cy="420624"/>
          </a:xfrm>
          <a:prstGeom prst="roundRect">
            <a:avLst>
              <a:gd name="adj" fmla="val 43478"/>
            </a:avLst>
          </a:prstGeom>
          <a:solidFill>
            <a:srgbClr val="FFFFFF"/>
          </a:solidFill>
          <a:ln w="25400">
            <a:solidFill>
              <a:srgbClr val="FFCC80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3258312" y="4503420"/>
            <a:ext cx="12588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D4C41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ばしょ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4617720" y="4503420"/>
            <a:ext cx="1313688" cy="420624"/>
          </a:xfrm>
          <a:prstGeom prst="roundRect">
            <a:avLst>
              <a:gd name="adj" fmla="val 43478"/>
            </a:avLst>
          </a:prstGeom>
          <a:solidFill>
            <a:srgbClr val="FFFFFF"/>
          </a:solidFill>
          <a:ln w="25400">
            <a:solidFill>
              <a:srgbClr val="FFCC80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4645152" y="4503420"/>
            <a:ext cx="12588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D4C41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かたち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6004560" y="4503420"/>
            <a:ext cx="1313688" cy="420624"/>
          </a:xfrm>
          <a:prstGeom prst="roundRect">
            <a:avLst>
              <a:gd name="adj" fmla="val 43478"/>
            </a:avLst>
          </a:prstGeom>
          <a:solidFill>
            <a:srgbClr val="FFFFFF"/>
          </a:solidFill>
          <a:ln w="25400">
            <a:solidFill>
              <a:srgbClr val="FFCC80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6031992" y="4503420"/>
            <a:ext cx="12588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D4C41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むすびかた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7391400" y="4503420"/>
            <a:ext cx="1313688" cy="420624"/>
          </a:xfrm>
          <a:prstGeom prst="roundRect">
            <a:avLst>
              <a:gd name="adj" fmla="val 43478"/>
            </a:avLst>
          </a:prstGeom>
          <a:solidFill>
            <a:srgbClr val="FFFFFF"/>
          </a:solidFill>
          <a:ln w="25400">
            <a:solidFill>
              <a:srgbClr val="FFCC80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418832" y="4503420"/>
            <a:ext cx="12588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D4C41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ざいりょう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6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47472" y="201168"/>
            <a:ext cx="8449056" cy="658368"/>
          </a:xfrm>
          <a:prstGeom prst="roundRect">
            <a:avLst>
              <a:gd name="adj" fmla="val 22222"/>
            </a:avLst>
          </a:prstGeom>
          <a:solidFill>
            <a:srgbClr val="FB8C00"/>
          </a:solidFill>
          <a:ln w="12700">
            <a:solidFill>
              <a:srgbClr val="FB8C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47472" y="201168"/>
            <a:ext cx="844905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なんかい やったかな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02920" y="960120"/>
            <a:ext cx="8138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D6E63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やって みた かず だけ、⭐️を コピーして ふやそう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02920" y="1325880"/>
            <a:ext cx="813816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31750">
            <a:solidFill>
              <a:srgbClr val="FFCC8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1481328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⭐️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1645920" y="1481328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⭐️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2377440" y="1481328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⭐️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3108960" y="1481328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⭐️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3840480" y="1481328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⭐️</a:t>
            </a:r>
            <a:endParaRPr lang="en-US" sz="2600" dirty="0"/>
          </a:p>
        </p:txBody>
      </p:sp>
      <p:sp>
        <p:nvSpPr>
          <p:cNvPr id="11" name="Shape 9"/>
          <p:cNvSpPr/>
          <p:nvPr/>
        </p:nvSpPr>
        <p:spPr>
          <a:xfrm>
            <a:off x="822960" y="2468880"/>
            <a:ext cx="2286000" cy="1417320"/>
          </a:xfrm>
          <a:prstGeom prst="roundRect">
            <a:avLst>
              <a:gd name="adj" fmla="val 10323"/>
            </a:avLst>
          </a:prstGeom>
          <a:solidFill>
            <a:srgbClr val="FFFFFF"/>
          </a:solidFill>
          <a:ln w="31750">
            <a:solidFill>
              <a:srgbClr val="EF9A9A"/>
            </a:solidFill>
            <a:prstDash val="solid"/>
          </a:ln>
        </p:spPr>
      </p:sp>
      <p:pic>
        <p:nvPicPr>
          <p:cNvPr id="12" name="Image 0" descr="illust/komatt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00200" y="2542032"/>
            <a:ext cx="731520" cy="731520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822960" y="331012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5D4037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はじめは…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3154680" y="2971800"/>
            <a:ext cx="320040" cy="365760"/>
          </a:xfrm>
          <a:prstGeom prst="rightArrow">
            <a:avLst/>
          </a:prstGeom>
          <a:solidFill>
            <a:srgbClr val="FFB74D"/>
          </a:solidFill>
          <a:ln w="12700">
            <a:solidFill>
              <a:srgbClr val="FFB74D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3520440" y="2468880"/>
            <a:ext cx="2286000" cy="1417320"/>
          </a:xfrm>
          <a:prstGeom prst="roundRect">
            <a:avLst>
              <a:gd name="adj" fmla="val 10323"/>
            </a:avLst>
          </a:prstGeom>
          <a:solidFill>
            <a:srgbClr val="FFFFFF"/>
          </a:solidFill>
          <a:ln w="31750">
            <a:solidFill>
              <a:srgbClr val="B39DDB"/>
            </a:solidFill>
            <a:prstDash val="solid"/>
          </a:ln>
        </p:spPr>
      </p:sp>
      <p:pic>
        <p:nvPicPr>
          <p:cNvPr id="16" name="Image 1" descr="illust/kangaeru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7680" y="2542032"/>
            <a:ext cx="731520" cy="731520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3520440" y="331012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5D4037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かんがえた</a:t>
            </a:r>
            <a:endParaRPr lang="en-US" sz="1500" dirty="0"/>
          </a:p>
        </p:txBody>
      </p:sp>
      <p:sp>
        <p:nvSpPr>
          <p:cNvPr id="18" name="Shape 14"/>
          <p:cNvSpPr/>
          <p:nvPr/>
        </p:nvSpPr>
        <p:spPr>
          <a:xfrm>
            <a:off x="5852160" y="2971800"/>
            <a:ext cx="320040" cy="365760"/>
          </a:xfrm>
          <a:prstGeom prst="rightArrow">
            <a:avLst/>
          </a:prstGeom>
          <a:solidFill>
            <a:srgbClr val="FFB74D"/>
          </a:solidFill>
          <a:ln w="12700">
            <a:solidFill>
              <a:srgbClr val="FFB74D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6217920" y="2468880"/>
            <a:ext cx="2286000" cy="1417320"/>
          </a:xfrm>
          <a:prstGeom prst="roundRect">
            <a:avLst>
              <a:gd name="adj" fmla="val 10323"/>
            </a:avLst>
          </a:prstGeom>
          <a:solidFill>
            <a:srgbClr val="FFFFFF"/>
          </a:solidFill>
          <a:ln w="31750">
            <a:solidFill>
              <a:srgbClr val="A5D6A7"/>
            </a:solidFill>
            <a:prstDash val="solid"/>
          </a:ln>
        </p:spPr>
      </p:sp>
      <p:pic>
        <p:nvPicPr>
          <p:cNvPr id="20" name="Image 2" descr="illust/dekita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95160" y="2542032"/>
            <a:ext cx="731520" cy="731520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6217920" y="331012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5D4037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できた!</a:t>
            </a:r>
            <a:endParaRPr lang="en-US" sz="1500" dirty="0"/>
          </a:p>
        </p:txBody>
      </p:sp>
      <p:sp>
        <p:nvSpPr>
          <p:cNvPr id="22" name="Text 17"/>
          <p:cNvSpPr/>
          <p:nvPr/>
        </p:nvSpPr>
        <p:spPr>
          <a:xfrm>
            <a:off x="502920" y="4041648"/>
            <a:ext cx="8138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D6E63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きもちの うつりかわり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6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47472" y="201168"/>
            <a:ext cx="8449056" cy="658368"/>
          </a:xfrm>
          <a:prstGeom prst="roundRect">
            <a:avLst>
              <a:gd name="adj" fmla="val 22222"/>
            </a:avLst>
          </a:prstGeom>
          <a:solidFill>
            <a:srgbClr val="9C27B0"/>
          </a:solidFill>
          <a:ln w="12700">
            <a:solidFill>
              <a:srgbClr val="9C27B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47472" y="201168"/>
            <a:ext cx="844905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あそびかた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709160" y="1024128"/>
            <a:ext cx="3931920" cy="2880360"/>
          </a:xfrm>
          <a:prstGeom prst="roundRect">
            <a:avLst>
              <a:gd name="adj" fmla="val 4444"/>
            </a:avLst>
          </a:prstGeom>
          <a:solidFill>
            <a:srgbClr val="ECEFF1"/>
          </a:solidFill>
          <a:ln w="31750">
            <a:solidFill>
              <a:srgbClr val="90A4AE"/>
            </a:solidFill>
            <a:prstDash val="dash"/>
          </a:ln>
        </p:spPr>
      </p:sp>
      <p:sp>
        <p:nvSpPr>
          <p:cNvPr id="5" name="Text 3"/>
          <p:cNvSpPr/>
          <p:nvPr/>
        </p:nvSpPr>
        <p:spPr>
          <a:xfrm>
            <a:off x="4709160" y="1024128"/>
            <a:ext cx="3931920" cy="2880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607D8B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しゃしんを</a:t>
            </a:r>
            <a:endParaRPr lang="en-US" sz="15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607D8B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ここに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02920" y="1024128"/>
            <a:ext cx="3931920" cy="128016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31750">
            <a:solidFill>
              <a:srgbClr val="FFB74D"/>
            </a:solidFill>
            <a:prstDash val="dash"/>
          </a:ln>
        </p:spPr>
      </p:sp>
      <p:sp>
        <p:nvSpPr>
          <p:cNvPr id="7" name="Text 5"/>
          <p:cNvSpPr/>
          <p:nvPr/>
        </p:nvSpPr>
        <p:spPr>
          <a:xfrm>
            <a:off x="612648" y="1024128"/>
            <a:ext cx="371246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9E9E9E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（　　　　　　）と</a:t>
            </a:r>
            <a:endParaRPr lang="en-US" sz="1900" dirty="0"/>
          </a:p>
          <a:p>
            <a:pPr algn="ctr" indent="0" marL="0">
              <a:buNone/>
            </a:pPr>
            <a:r>
              <a:rPr lang="en-US" sz="1900" dirty="0">
                <a:solidFill>
                  <a:srgbClr val="9E9E9E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あそびます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502920" y="2487168"/>
            <a:ext cx="393192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31750">
            <a:solidFill>
              <a:srgbClr val="FFB74D"/>
            </a:solidFill>
            <a:prstDash val="dash"/>
          </a:ln>
        </p:spPr>
      </p:sp>
      <p:sp>
        <p:nvSpPr>
          <p:cNvPr id="9" name="Text 7"/>
          <p:cNvSpPr/>
          <p:nvPr/>
        </p:nvSpPr>
        <p:spPr>
          <a:xfrm>
            <a:off x="612648" y="2487168"/>
            <a:ext cx="3712464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9E9E9E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（　　　　　　）が</a:t>
            </a:r>
            <a:endParaRPr lang="en-US" sz="1900" dirty="0"/>
          </a:p>
          <a:p>
            <a:pPr algn="ctr" indent="0" marL="0">
              <a:buNone/>
            </a:pPr>
            <a:r>
              <a:rPr lang="en-US" sz="1900" dirty="0">
                <a:solidFill>
                  <a:srgbClr val="9E9E9E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おもしろいよ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347472" y="4210812"/>
            <a:ext cx="8449056" cy="786384"/>
          </a:xfrm>
          <a:prstGeom prst="roundRect">
            <a:avLst>
              <a:gd name="adj" fmla="val 16279"/>
            </a:avLst>
          </a:prstGeom>
          <a:solidFill>
            <a:srgbClr val="FFE9C7"/>
          </a:solidFill>
          <a:ln w="12700">
            <a:solidFill>
              <a:srgbClr val="FFE9C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4238244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D6E63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ことばカード … つかう ことばを、上の（　）の ところへ ドラッグしよう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4503420"/>
            <a:ext cx="1313688" cy="420624"/>
          </a:xfrm>
          <a:prstGeom prst="roundRect">
            <a:avLst>
              <a:gd name="adj" fmla="val 43478"/>
            </a:avLst>
          </a:prstGeom>
          <a:solidFill>
            <a:srgbClr val="FFFFFF"/>
          </a:solidFill>
          <a:ln w="25400">
            <a:solidFill>
              <a:srgbClr val="FFCC8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84632" y="4503420"/>
            <a:ext cx="12588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D4C41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くるくる まわる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1844040" y="4503420"/>
            <a:ext cx="1313688" cy="420624"/>
          </a:xfrm>
          <a:prstGeom prst="roundRect">
            <a:avLst>
              <a:gd name="adj" fmla="val 43478"/>
            </a:avLst>
          </a:prstGeom>
          <a:solidFill>
            <a:srgbClr val="FFFFFF"/>
          </a:solidFill>
          <a:ln w="25400">
            <a:solidFill>
              <a:srgbClr val="FFCC8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871472" y="4503420"/>
            <a:ext cx="12588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D4C41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ころがる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3230880" y="4503420"/>
            <a:ext cx="1313688" cy="420624"/>
          </a:xfrm>
          <a:prstGeom prst="roundRect">
            <a:avLst>
              <a:gd name="adj" fmla="val 43478"/>
            </a:avLst>
          </a:prstGeom>
          <a:solidFill>
            <a:srgbClr val="FFFFFF"/>
          </a:solidFill>
          <a:ln w="25400">
            <a:solidFill>
              <a:srgbClr val="FFCC8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258312" y="4503420"/>
            <a:ext cx="12588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D4C41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ぴょんと とぶ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617720" y="4503420"/>
            <a:ext cx="1313688" cy="420624"/>
          </a:xfrm>
          <a:prstGeom prst="roundRect">
            <a:avLst>
              <a:gd name="adj" fmla="val 43478"/>
            </a:avLst>
          </a:prstGeom>
          <a:solidFill>
            <a:srgbClr val="FFFFFF"/>
          </a:solidFill>
          <a:ln w="25400">
            <a:solidFill>
              <a:srgbClr val="FFCC8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645152" y="4503420"/>
            <a:ext cx="12588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D4C41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おとが なる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004560" y="4503420"/>
            <a:ext cx="1313688" cy="420624"/>
          </a:xfrm>
          <a:prstGeom prst="roundRect">
            <a:avLst>
              <a:gd name="adj" fmla="val 43478"/>
            </a:avLst>
          </a:prstGeom>
          <a:solidFill>
            <a:srgbClr val="FFFFFF"/>
          </a:solidFill>
          <a:ln w="25400">
            <a:solidFill>
              <a:srgbClr val="FFCC8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031992" y="4503420"/>
            <a:ext cx="12588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D4C41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かぶって あそぶ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7391400" y="4503420"/>
            <a:ext cx="1313688" cy="420624"/>
          </a:xfrm>
          <a:prstGeom prst="roundRect">
            <a:avLst>
              <a:gd name="adj" fmla="val 43478"/>
            </a:avLst>
          </a:prstGeom>
          <a:solidFill>
            <a:srgbClr val="FFFFFF"/>
          </a:solidFill>
          <a:ln w="25400">
            <a:solidFill>
              <a:srgbClr val="FFCC8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418832" y="4503420"/>
            <a:ext cx="12588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D4C41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ゆらゆら する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6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47472" y="201168"/>
            <a:ext cx="8449056" cy="658368"/>
          </a:xfrm>
          <a:prstGeom prst="roundRect">
            <a:avLst>
              <a:gd name="adj" fmla="val 22222"/>
            </a:avLst>
          </a:prstGeom>
          <a:solidFill>
            <a:srgbClr val="FF9800"/>
          </a:solidFill>
          <a:ln w="12700">
            <a:solidFill>
              <a:srgbClr val="FF98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47472" y="201168"/>
            <a:ext cx="844905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くふうした ところ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1051560"/>
            <a:ext cx="5120640" cy="1325880"/>
          </a:xfrm>
          <a:prstGeom prst="roundRect">
            <a:avLst>
              <a:gd name="adj" fmla="val 8276"/>
            </a:avLst>
          </a:prstGeom>
          <a:solidFill>
            <a:srgbClr val="FFFFFF"/>
          </a:solidFill>
          <a:ln w="31750">
            <a:solidFill>
              <a:srgbClr val="FFB74D"/>
            </a:solidFill>
            <a:prstDash val="dash"/>
          </a:ln>
        </p:spPr>
      </p:sp>
      <p:sp>
        <p:nvSpPr>
          <p:cNvPr id="5" name="Text 3"/>
          <p:cNvSpPr/>
          <p:nvPr/>
        </p:nvSpPr>
        <p:spPr>
          <a:xfrm>
            <a:off x="612648" y="1051560"/>
            <a:ext cx="490118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9E9E9E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（　　　　　　　　）を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dirty="0">
                <a:solidFill>
                  <a:srgbClr val="9E9E9E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くふうしました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502920" y="2514600"/>
            <a:ext cx="512064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31750">
            <a:solidFill>
              <a:srgbClr val="FFB74D"/>
            </a:solidFill>
            <a:prstDash val="dash"/>
          </a:ln>
        </p:spPr>
      </p:sp>
      <p:sp>
        <p:nvSpPr>
          <p:cNvPr id="7" name="Text 5"/>
          <p:cNvSpPr/>
          <p:nvPr/>
        </p:nvSpPr>
        <p:spPr>
          <a:xfrm>
            <a:off x="612648" y="2514600"/>
            <a:ext cx="490118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9E9E9E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（　　　　　　　　）が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dirty="0">
                <a:solidFill>
                  <a:srgbClr val="9E9E9E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むずかしかったよ</a:t>
            </a:r>
            <a:endParaRPr lang="en-US" sz="2000" dirty="0"/>
          </a:p>
        </p:txBody>
      </p:sp>
      <p:pic>
        <p:nvPicPr>
          <p:cNvPr id="8" name="Image 0" descr="illust/yajirob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35040" y="1234440"/>
            <a:ext cx="1371600" cy="1371600"/>
          </a:xfrm>
          <a:prstGeom prst="rect">
            <a:avLst/>
          </a:prstGeom>
        </p:spPr>
      </p:pic>
      <p:pic>
        <p:nvPicPr>
          <p:cNvPr id="9" name="Image 1" descr="illust/komm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2377440"/>
            <a:ext cx="1280160" cy="128016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347472" y="4210812"/>
            <a:ext cx="8449056" cy="786384"/>
          </a:xfrm>
          <a:prstGeom prst="roundRect">
            <a:avLst>
              <a:gd name="adj" fmla="val 16279"/>
            </a:avLst>
          </a:prstGeom>
          <a:solidFill>
            <a:srgbClr val="FFE9C7"/>
          </a:solidFill>
          <a:ln w="12700">
            <a:solidFill>
              <a:srgbClr val="FFE9C7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457200" y="4238244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D6E63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ことばカード … つかう ことばを、上の（　）の ところへ ドラッグしよう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457200" y="4503420"/>
            <a:ext cx="1313688" cy="420624"/>
          </a:xfrm>
          <a:prstGeom prst="roundRect">
            <a:avLst>
              <a:gd name="adj" fmla="val 43478"/>
            </a:avLst>
          </a:prstGeom>
          <a:solidFill>
            <a:srgbClr val="FFFFFF"/>
          </a:solidFill>
          <a:ln w="25400">
            <a:solidFill>
              <a:srgbClr val="FFCC80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484632" y="4503420"/>
            <a:ext cx="12588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D4C41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いろ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1844040" y="4503420"/>
            <a:ext cx="1313688" cy="420624"/>
          </a:xfrm>
          <a:prstGeom prst="roundRect">
            <a:avLst>
              <a:gd name="adj" fmla="val 43478"/>
            </a:avLst>
          </a:prstGeom>
          <a:solidFill>
            <a:srgbClr val="FFFFFF"/>
          </a:solidFill>
          <a:ln w="25400">
            <a:solidFill>
              <a:srgbClr val="FFCC80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1871472" y="4503420"/>
            <a:ext cx="12588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D4C41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おおきさ</a:t>
            </a:r>
            <a:endParaRPr lang="en-US" sz="1200" dirty="0"/>
          </a:p>
        </p:txBody>
      </p:sp>
      <p:sp>
        <p:nvSpPr>
          <p:cNvPr id="16" name="Shape 12"/>
          <p:cNvSpPr/>
          <p:nvPr/>
        </p:nvSpPr>
        <p:spPr>
          <a:xfrm>
            <a:off x="3230880" y="4503420"/>
            <a:ext cx="1313688" cy="420624"/>
          </a:xfrm>
          <a:prstGeom prst="roundRect">
            <a:avLst>
              <a:gd name="adj" fmla="val 43478"/>
            </a:avLst>
          </a:prstGeom>
          <a:solidFill>
            <a:srgbClr val="FFFFFF"/>
          </a:solidFill>
          <a:ln w="25400">
            <a:solidFill>
              <a:srgbClr val="FFCC80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3258312" y="4503420"/>
            <a:ext cx="12588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D4C41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もよう</a:t>
            </a:r>
            <a:endParaRPr lang="en-US" sz="1200" dirty="0"/>
          </a:p>
        </p:txBody>
      </p:sp>
      <p:sp>
        <p:nvSpPr>
          <p:cNvPr id="18" name="Shape 14"/>
          <p:cNvSpPr/>
          <p:nvPr/>
        </p:nvSpPr>
        <p:spPr>
          <a:xfrm>
            <a:off x="4617720" y="4503420"/>
            <a:ext cx="1313688" cy="420624"/>
          </a:xfrm>
          <a:prstGeom prst="roundRect">
            <a:avLst>
              <a:gd name="adj" fmla="val 43478"/>
            </a:avLst>
          </a:prstGeom>
          <a:solidFill>
            <a:srgbClr val="FFFFFF"/>
          </a:solidFill>
          <a:ln w="25400">
            <a:solidFill>
              <a:srgbClr val="FFCC80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4645152" y="4503420"/>
            <a:ext cx="12588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D4C41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ひもの ながさ</a:t>
            </a:r>
            <a:endParaRPr lang="en-US" sz="1100" dirty="0"/>
          </a:p>
        </p:txBody>
      </p:sp>
      <p:sp>
        <p:nvSpPr>
          <p:cNvPr id="20" name="Shape 16"/>
          <p:cNvSpPr/>
          <p:nvPr/>
        </p:nvSpPr>
        <p:spPr>
          <a:xfrm>
            <a:off x="6004560" y="4503420"/>
            <a:ext cx="1313688" cy="420624"/>
          </a:xfrm>
          <a:prstGeom prst="roundRect">
            <a:avLst>
              <a:gd name="adj" fmla="val 43478"/>
            </a:avLst>
          </a:prstGeom>
          <a:solidFill>
            <a:srgbClr val="FFFFFF"/>
          </a:solidFill>
          <a:ln w="25400">
            <a:solidFill>
              <a:srgbClr val="FFCC80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6031992" y="4503420"/>
            <a:ext cx="12588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D4C41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かざり</a:t>
            </a:r>
            <a:endParaRPr lang="en-US" sz="1200" dirty="0"/>
          </a:p>
        </p:txBody>
      </p:sp>
      <p:sp>
        <p:nvSpPr>
          <p:cNvPr id="22" name="Shape 18"/>
          <p:cNvSpPr/>
          <p:nvPr/>
        </p:nvSpPr>
        <p:spPr>
          <a:xfrm>
            <a:off x="7391400" y="4503420"/>
            <a:ext cx="1313688" cy="420624"/>
          </a:xfrm>
          <a:prstGeom prst="roundRect">
            <a:avLst>
              <a:gd name="adj" fmla="val 43478"/>
            </a:avLst>
          </a:prstGeom>
          <a:solidFill>
            <a:srgbClr val="FFFFFF"/>
          </a:solidFill>
          <a:ln w="25400">
            <a:solidFill>
              <a:srgbClr val="FFCC80"/>
            </a:solidFill>
            <a:prstDash val="solid"/>
          </a:ln>
        </p:spPr>
      </p:sp>
      <p:sp>
        <p:nvSpPr>
          <p:cNvPr id="23" name="Text 19"/>
          <p:cNvSpPr/>
          <p:nvPr/>
        </p:nvSpPr>
        <p:spPr>
          <a:xfrm>
            <a:off x="7418832" y="4503420"/>
            <a:ext cx="12588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D4C41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あなの ばしょ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6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47472" y="201168"/>
            <a:ext cx="8449056" cy="658368"/>
          </a:xfrm>
          <a:prstGeom prst="roundRect">
            <a:avLst>
              <a:gd name="adj" fmla="val 22222"/>
            </a:avLst>
          </a:prstGeom>
          <a:solidFill>
            <a:srgbClr val="E91E63"/>
          </a:solidFill>
          <a:ln w="12700">
            <a:solidFill>
              <a:srgbClr val="E91E6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47472" y="201168"/>
            <a:ext cx="844905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かんそう</a:t>
            </a:r>
            <a:endParaRPr lang="en-US" sz="2600" dirty="0"/>
          </a:p>
        </p:txBody>
      </p:sp>
      <p:pic>
        <p:nvPicPr>
          <p:cNvPr id="4" name="Image 0" descr="illust/dekit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35240" y="1005840"/>
            <a:ext cx="1005840" cy="100584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02920" y="1024128"/>
            <a:ext cx="6949440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31750">
            <a:solidFill>
              <a:srgbClr val="FFAB91"/>
            </a:solidFill>
            <a:prstDash val="dash"/>
          </a:ln>
        </p:spPr>
      </p:sp>
      <p:sp>
        <p:nvSpPr>
          <p:cNvPr id="6" name="Text 3"/>
          <p:cNvSpPr/>
          <p:nvPr/>
        </p:nvSpPr>
        <p:spPr>
          <a:xfrm>
            <a:off x="612648" y="1024128"/>
            <a:ext cx="672998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9E9E9E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いちばん がんばったのは（　　　　　　　）です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502920" y="2121408"/>
            <a:ext cx="813816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31750">
            <a:solidFill>
              <a:srgbClr val="FFB74D"/>
            </a:solidFill>
            <a:prstDash val="dash"/>
          </a:ln>
        </p:spPr>
      </p:sp>
      <p:sp>
        <p:nvSpPr>
          <p:cNvPr id="8" name="Text 5"/>
          <p:cNvSpPr/>
          <p:nvPr/>
        </p:nvSpPr>
        <p:spPr>
          <a:xfrm>
            <a:off x="612648" y="2121408"/>
            <a:ext cx="791870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9E9E9E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つくって みて（　　　　　　　　）でした</a:t>
            </a:r>
            <a:endParaRPr lang="en-US" sz="1800" dirty="0"/>
          </a:p>
        </p:txBody>
      </p:sp>
      <p:sp>
        <p:nvSpPr>
          <p:cNvPr id="9" name="Shape 6"/>
          <p:cNvSpPr/>
          <p:nvPr/>
        </p:nvSpPr>
        <p:spPr>
          <a:xfrm>
            <a:off x="502920" y="3154680"/>
            <a:ext cx="813816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31750">
            <a:solidFill>
              <a:srgbClr val="FFB74D"/>
            </a:solidFill>
            <a:prstDash val="dash"/>
          </a:ln>
        </p:spPr>
      </p:sp>
      <p:sp>
        <p:nvSpPr>
          <p:cNvPr id="10" name="Text 7"/>
          <p:cNvSpPr/>
          <p:nvPr/>
        </p:nvSpPr>
        <p:spPr>
          <a:xfrm>
            <a:off x="612648" y="3154680"/>
            <a:ext cx="791870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9E9E9E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つぎは（　　　　　　　　）を つくりたいです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347472" y="4210812"/>
            <a:ext cx="8449056" cy="786384"/>
          </a:xfrm>
          <a:prstGeom prst="roundRect">
            <a:avLst>
              <a:gd name="adj" fmla="val 16279"/>
            </a:avLst>
          </a:prstGeom>
          <a:solidFill>
            <a:srgbClr val="FFE9C7"/>
          </a:solidFill>
          <a:ln w="12700">
            <a:solidFill>
              <a:srgbClr val="FFE9C7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7200" y="4238244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D6E63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ことばカード … つかう ことばを、上の（　）の ところへ ドラッグしよう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57200" y="4503420"/>
            <a:ext cx="1313688" cy="420624"/>
          </a:xfrm>
          <a:prstGeom prst="roundRect">
            <a:avLst>
              <a:gd name="adj" fmla="val 43478"/>
            </a:avLst>
          </a:prstGeom>
          <a:solidFill>
            <a:srgbClr val="FFFFFF"/>
          </a:solidFill>
          <a:ln w="25400">
            <a:solidFill>
              <a:srgbClr val="FFCC8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484632" y="4503420"/>
            <a:ext cx="12588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D4C41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あきらめなかった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1844040" y="4503420"/>
            <a:ext cx="1313688" cy="420624"/>
          </a:xfrm>
          <a:prstGeom prst="roundRect">
            <a:avLst>
              <a:gd name="adj" fmla="val 43478"/>
            </a:avLst>
          </a:prstGeom>
          <a:solidFill>
            <a:srgbClr val="FFFFFF"/>
          </a:solidFill>
          <a:ln w="25400">
            <a:solidFill>
              <a:srgbClr val="FFCC80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1871472" y="4503420"/>
            <a:ext cx="12588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D4C41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なんども やった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3230880" y="4503420"/>
            <a:ext cx="1313688" cy="420624"/>
          </a:xfrm>
          <a:prstGeom prst="roundRect">
            <a:avLst>
              <a:gd name="adj" fmla="val 43478"/>
            </a:avLst>
          </a:prstGeom>
          <a:solidFill>
            <a:srgbClr val="FFFFFF"/>
          </a:solidFill>
          <a:ln w="25400">
            <a:solidFill>
              <a:srgbClr val="FFCC80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3258312" y="4503420"/>
            <a:ext cx="12588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D4C41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そうだんした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4617720" y="4503420"/>
            <a:ext cx="1313688" cy="420624"/>
          </a:xfrm>
          <a:prstGeom prst="roundRect">
            <a:avLst>
              <a:gd name="adj" fmla="val 43478"/>
            </a:avLst>
          </a:prstGeom>
          <a:solidFill>
            <a:srgbClr val="FFFFFF"/>
          </a:solidFill>
          <a:ln w="25400">
            <a:solidFill>
              <a:srgbClr val="FFCC80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4645152" y="4503420"/>
            <a:ext cx="12588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D4C41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さいごまで やった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6004560" y="4503420"/>
            <a:ext cx="1313688" cy="420624"/>
          </a:xfrm>
          <a:prstGeom prst="roundRect">
            <a:avLst>
              <a:gd name="adj" fmla="val 43478"/>
            </a:avLst>
          </a:prstGeom>
          <a:solidFill>
            <a:srgbClr val="FFFFFF"/>
          </a:solidFill>
          <a:ln w="25400">
            <a:solidFill>
              <a:srgbClr val="FFCC80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6031992" y="4503420"/>
            <a:ext cx="12588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D4C41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たのしかった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7391400" y="4503420"/>
            <a:ext cx="1313688" cy="420624"/>
          </a:xfrm>
          <a:prstGeom prst="roundRect">
            <a:avLst>
              <a:gd name="adj" fmla="val 43478"/>
            </a:avLst>
          </a:prstGeom>
          <a:solidFill>
            <a:srgbClr val="FFFFFF"/>
          </a:solidFill>
          <a:ln w="25400">
            <a:solidFill>
              <a:srgbClr val="FFCC80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7418832" y="4503420"/>
            <a:ext cx="12588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D4C41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くやしかった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6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b="1" dirty="0">
                <a:solidFill>
                  <a:srgbClr val="E65100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はやく あそんで もらいたいな!</a:t>
            </a:r>
            <a:endParaRPr lang="en-US" sz="33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8D6E63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ようちえん・ほいくえんの おともだちを まねきます</a:t>
            </a:r>
            <a:endParaRPr lang="en-US" sz="1600" dirty="0"/>
          </a:p>
        </p:txBody>
      </p:sp>
      <p:pic>
        <p:nvPicPr>
          <p:cNvPr id="4" name="Image 0" descr="illust/dekit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487168"/>
            <a:ext cx="1463040" cy="146304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2057400" y="1508760"/>
            <a:ext cx="2926080" cy="1143000"/>
          </a:xfrm>
          <a:prstGeom prst="roundRect">
            <a:avLst>
              <a:gd name="adj" fmla="val 17600"/>
            </a:avLst>
          </a:prstGeom>
          <a:solidFill>
            <a:srgbClr val="FFFFFF"/>
          </a:solidFill>
          <a:ln w="31750">
            <a:solidFill>
              <a:srgbClr val="FFB74D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2148840" y="1508760"/>
            <a:ext cx="2743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9E9E9E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（　　　　　）って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9E9E9E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いって もらえるかな</a:t>
            </a:r>
            <a:endParaRPr lang="en-US" sz="1600" dirty="0"/>
          </a:p>
        </p:txBody>
      </p:sp>
      <p:pic>
        <p:nvPicPr>
          <p:cNvPr id="7" name="Image 1" descr="illust/chibi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60920" y="2697480"/>
            <a:ext cx="1234440" cy="123444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212080" y="1508760"/>
            <a:ext cx="2926080" cy="1143000"/>
          </a:xfrm>
          <a:prstGeom prst="roundRect">
            <a:avLst>
              <a:gd name="adj" fmla="val 17600"/>
            </a:avLst>
          </a:prstGeom>
          <a:solidFill>
            <a:srgbClr val="FFF3E0"/>
          </a:solidFill>
          <a:ln w="31750">
            <a:solidFill>
              <a:srgbClr val="FFCC80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5303520" y="1508760"/>
            <a:ext cx="2743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E65100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わあ! やって みたい!</a:t>
            </a:r>
            <a:endParaRPr lang="en-US" sz="1700" dirty="0"/>
          </a:p>
        </p:txBody>
      </p:sp>
      <p:sp>
        <p:nvSpPr>
          <p:cNvPr id="10" name="Shape 6"/>
          <p:cNvSpPr/>
          <p:nvPr/>
        </p:nvSpPr>
        <p:spPr>
          <a:xfrm>
            <a:off x="2148840" y="2788920"/>
            <a:ext cx="502920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31750">
            <a:solidFill>
              <a:srgbClr val="FFB74D"/>
            </a:solidFill>
            <a:prstDash val="dash"/>
          </a:ln>
        </p:spPr>
      </p:sp>
      <p:sp>
        <p:nvSpPr>
          <p:cNvPr id="11" name="Text 7"/>
          <p:cNvSpPr/>
          <p:nvPr/>
        </p:nvSpPr>
        <p:spPr>
          <a:xfrm>
            <a:off x="2258568" y="2788920"/>
            <a:ext cx="480974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9E9E9E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（　　　　　　　）ところを</a:t>
            </a:r>
            <a:endParaRPr lang="en-US" sz="1700" dirty="0"/>
          </a:p>
          <a:p>
            <a:pPr algn="ctr" indent="0" marL="0">
              <a:buNone/>
            </a:pPr>
            <a:r>
              <a:rPr lang="en-US" sz="1700" dirty="0">
                <a:solidFill>
                  <a:srgbClr val="9E9E9E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おしえて あげたいな</a:t>
            </a:r>
            <a:endParaRPr lang="en-US" sz="1700" dirty="0"/>
          </a:p>
        </p:txBody>
      </p:sp>
      <p:sp>
        <p:nvSpPr>
          <p:cNvPr id="12" name="Shape 8"/>
          <p:cNvSpPr/>
          <p:nvPr/>
        </p:nvSpPr>
        <p:spPr>
          <a:xfrm>
            <a:off x="347472" y="4210812"/>
            <a:ext cx="8449056" cy="786384"/>
          </a:xfrm>
          <a:prstGeom prst="roundRect">
            <a:avLst>
              <a:gd name="adj" fmla="val 16279"/>
            </a:avLst>
          </a:prstGeom>
          <a:solidFill>
            <a:srgbClr val="FFE9C7"/>
          </a:solidFill>
          <a:ln w="12700">
            <a:solidFill>
              <a:srgbClr val="FFE9C7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457200" y="4238244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D6E63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ことばカード … つかう ことばを、上の（　）の ところへ ドラッグしよう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457200" y="4503420"/>
            <a:ext cx="1313688" cy="420624"/>
          </a:xfrm>
          <a:prstGeom prst="roundRect">
            <a:avLst>
              <a:gd name="adj" fmla="val 43478"/>
            </a:avLst>
          </a:prstGeom>
          <a:solidFill>
            <a:srgbClr val="FFFFFF"/>
          </a:solidFill>
          <a:ln w="25400">
            <a:solidFill>
              <a:srgbClr val="FFCC80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484632" y="4503420"/>
            <a:ext cx="12588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D4C41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たのしい!</a:t>
            </a:r>
            <a:endParaRPr lang="en-US" sz="1200" dirty="0"/>
          </a:p>
        </p:txBody>
      </p:sp>
      <p:sp>
        <p:nvSpPr>
          <p:cNvPr id="16" name="Shape 12"/>
          <p:cNvSpPr/>
          <p:nvPr/>
        </p:nvSpPr>
        <p:spPr>
          <a:xfrm>
            <a:off x="1844040" y="4503420"/>
            <a:ext cx="1313688" cy="420624"/>
          </a:xfrm>
          <a:prstGeom prst="roundRect">
            <a:avLst>
              <a:gd name="adj" fmla="val 43478"/>
            </a:avLst>
          </a:prstGeom>
          <a:solidFill>
            <a:srgbClr val="FFFFFF"/>
          </a:solidFill>
          <a:ln w="25400">
            <a:solidFill>
              <a:srgbClr val="FFCC80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1871472" y="4503420"/>
            <a:ext cx="12588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D4C41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すごい!</a:t>
            </a:r>
            <a:endParaRPr lang="en-US" sz="1200" dirty="0"/>
          </a:p>
        </p:txBody>
      </p:sp>
      <p:sp>
        <p:nvSpPr>
          <p:cNvPr id="18" name="Shape 14"/>
          <p:cNvSpPr/>
          <p:nvPr/>
        </p:nvSpPr>
        <p:spPr>
          <a:xfrm>
            <a:off x="3230880" y="4503420"/>
            <a:ext cx="1313688" cy="420624"/>
          </a:xfrm>
          <a:prstGeom prst="roundRect">
            <a:avLst>
              <a:gd name="adj" fmla="val 43478"/>
            </a:avLst>
          </a:prstGeom>
          <a:solidFill>
            <a:srgbClr val="FFFFFF"/>
          </a:solidFill>
          <a:ln w="25400">
            <a:solidFill>
              <a:srgbClr val="FFCC80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3258312" y="4503420"/>
            <a:ext cx="12588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D4C41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もう1かい!</a:t>
            </a:r>
            <a:endParaRPr lang="en-US" sz="1200" dirty="0"/>
          </a:p>
        </p:txBody>
      </p:sp>
      <p:sp>
        <p:nvSpPr>
          <p:cNvPr id="20" name="Shape 16"/>
          <p:cNvSpPr/>
          <p:nvPr/>
        </p:nvSpPr>
        <p:spPr>
          <a:xfrm>
            <a:off x="4617720" y="4503420"/>
            <a:ext cx="1313688" cy="420624"/>
          </a:xfrm>
          <a:prstGeom prst="roundRect">
            <a:avLst>
              <a:gd name="adj" fmla="val 43478"/>
            </a:avLst>
          </a:prstGeom>
          <a:solidFill>
            <a:srgbClr val="FFFFFF"/>
          </a:solidFill>
          <a:ln w="25400">
            <a:solidFill>
              <a:srgbClr val="FFCC80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4645152" y="4503420"/>
            <a:ext cx="12588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D4C41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じょうずだね</a:t>
            </a:r>
            <a:endParaRPr lang="en-US" sz="1200" dirty="0"/>
          </a:p>
        </p:txBody>
      </p:sp>
      <p:sp>
        <p:nvSpPr>
          <p:cNvPr id="22" name="Shape 18"/>
          <p:cNvSpPr/>
          <p:nvPr/>
        </p:nvSpPr>
        <p:spPr>
          <a:xfrm>
            <a:off x="6004560" y="4503420"/>
            <a:ext cx="1313688" cy="420624"/>
          </a:xfrm>
          <a:prstGeom prst="roundRect">
            <a:avLst>
              <a:gd name="adj" fmla="val 43478"/>
            </a:avLst>
          </a:prstGeom>
          <a:solidFill>
            <a:srgbClr val="FFFFFF"/>
          </a:solidFill>
          <a:ln w="25400">
            <a:solidFill>
              <a:srgbClr val="FFCC80"/>
            </a:solidFill>
            <a:prstDash val="solid"/>
          </a:ln>
        </p:spPr>
      </p:sp>
      <p:sp>
        <p:nvSpPr>
          <p:cNvPr id="23" name="Text 19"/>
          <p:cNvSpPr/>
          <p:nvPr/>
        </p:nvSpPr>
        <p:spPr>
          <a:xfrm>
            <a:off x="6031992" y="4503420"/>
            <a:ext cx="12588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D4C41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おもしろい!</a:t>
            </a:r>
            <a:endParaRPr lang="en-US" sz="1200" dirty="0"/>
          </a:p>
        </p:txBody>
      </p:sp>
      <p:sp>
        <p:nvSpPr>
          <p:cNvPr id="24" name="Shape 20"/>
          <p:cNvSpPr/>
          <p:nvPr/>
        </p:nvSpPr>
        <p:spPr>
          <a:xfrm>
            <a:off x="7391400" y="4503420"/>
            <a:ext cx="1313688" cy="420624"/>
          </a:xfrm>
          <a:prstGeom prst="roundRect">
            <a:avLst>
              <a:gd name="adj" fmla="val 43478"/>
            </a:avLst>
          </a:prstGeom>
          <a:solidFill>
            <a:srgbClr val="FFFFFF"/>
          </a:solidFill>
          <a:ln w="25400">
            <a:solidFill>
              <a:srgbClr val="FFCC80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7418832" y="4503420"/>
            <a:ext cx="12588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D4C41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ありがとう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2026-08-05T06:31:50Z</dcterms:created>
  <dcterms:modified xsi:type="dcterms:W3CDTF">2026-08-05T06:31:50Z</dcterms:modified>
</cp:coreProperties>
</file>